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35"/>
  </p:normalViewPr>
  <p:slideViewPr>
    <p:cSldViewPr snapToGrid="0" snapToObjects="1">
      <p:cViewPr varScale="1">
        <p:scale>
          <a:sx n="115" d="100"/>
          <a:sy n="115" d="100"/>
        </p:scale>
        <p:origin x="3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F6A73-2DE0-464B-9E6D-FBB4905893CC}" type="datetimeFigureOut">
              <a:rPr lang="ru-KZ" smtClean="0"/>
              <a:t>07.10.2026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1F133-44E0-904B-92C1-6DD9107BF44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11159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1F133-44E0-904B-92C1-6DD9107BF44B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82130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ordwall.net/kk/resource/57606980?wwmethod=link" TargetMode="Externa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74152" y="-731520"/>
            <a:ext cx="4114800" cy="41148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2743200" cy="2743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60152" y="5486400"/>
            <a:ext cx="1828800" cy="18288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86868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Көпмүшелер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474720"/>
            <a:ext cx="8686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3000" b="0" i="0">
                <a:solidFill>
                  <a:srgbClr val="E2D9FF"/>
                </a:solidFill>
                <a:latin typeface="Calibri"/>
              </a:rPr>
              <a:t>Дәрежесі және стандарт түрі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91840"/>
            <a:ext cx="54864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4572000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1600" b="0" i="0">
                <a:solidFill>
                  <a:srgbClr val="C4B5FD"/>
                </a:solidFill>
                <a:latin typeface="Calibri"/>
              </a:rPr>
              <a:t>7-сынып  ·  Алгебра  ·  Оқу жылы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212080"/>
            <a:ext cx="201168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512064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7.2.1.5 ·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Анықтама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06040" y="5212080"/>
            <a:ext cx="201168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51384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7.2.1.6 ·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Стандарт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түрі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1672" y="-2743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48872" y="457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914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САБАҚТЫҢ МАҚСАТЫ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5486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r"/>
            <a:r>
              <a:rPr sz="1200" b="0" i="0">
                <a:solidFill>
                  <a:srgbClr val="FFD180"/>
                </a:solidFill>
                <a:latin typeface="Calibri"/>
              </a:rPr>
              <a:t>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900" y="6318504"/>
            <a:ext cx="36576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900" b="0" i="0" dirty="0">
                <a:solidFill>
                  <a:srgbClr val="BB9DF0"/>
                </a:solidFill>
                <a:latin typeface="Calibri"/>
              </a:rPr>
              <a:t>·  7-сынып  ·  </a:t>
            </a:r>
            <a:r>
              <a:rPr sz="900" b="0" i="0" dirty="0" err="1">
                <a:solidFill>
                  <a:srgbClr val="BB9DF0"/>
                </a:solidFill>
                <a:latin typeface="Calibri"/>
              </a:rPr>
              <a:t>Алгебра</a:t>
            </a:r>
            <a:endParaRPr sz="900" b="0" i="0" dirty="0">
              <a:solidFill>
                <a:srgbClr val="BB9DF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1618488"/>
            <a:ext cx="2468880" cy="457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664208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ОМ: 7.2.1.5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618488"/>
            <a:ext cx="2468880" cy="457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4680" y="1664208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ОМ: 7.2.1.6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58568"/>
            <a:ext cx="11548872" cy="713232"/>
          </a:xfrm>
          <a:prstGeom prst="rect">
            <a:avLst/>
          </a:prstGeom>
          <a:solidFill>
            <a:srgbClr val="EEE9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258568"/>
            <a:ext cx="73152" cy="7132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4632" y="2459736"/>
            <a:ext cx="310896" cy="31089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2459736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350008"/>
            <a:ext cx="10817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Көпмүше анықтамасын біледі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54096"/>
            <a:ext cx="11548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054096"/>
            <a:ext cx="73152" cy="7132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4632" y="3255264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" y="3255264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145536"/>
            <a:ext cx="10817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Көпмүшенің мүшелерін ажыратады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49624"/>
            <a:ext cx="11548872" cy="713232"/>
          </a:xfrm>
          <a:prstGeom prst="rect">
            <a:avLst/>
          </a:prstGeom>
          <a:solidFill>
            <a:srgbClr val="EEE9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3849624"/>
            <a:ext cx="73152" cy="7132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4632" y="4050792"/>
            <a:ext cx="310896" cy="31089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4050792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41064"/>
            <a:ext cx="10817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Көпмүшенің дәрежесін табады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645152"/>
            <a:ext cx="11548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4645152"/>
            <a:ext cx="73152" cy="7132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4632" y="4846320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" y="484632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736592"/>
            <a:ext cx="10817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Ұқсас мүшелерді біріктіреді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440680"/>
            <a:ext cx="11548872" cy="713232"/>
          </a:xfrm>
          <a:prstGeom prst="rect">
            <a:avLst/>
          </a:prstGeom>
          <a:solidFill>
            <a:srgbClr val="EEE9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5440680"/>
            <a:ext cx="73152" cy="7132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84632" y="5641848"/>
            <a:ext cx="310896" cy="31089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" y="5641848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532120"/>
            <a:ext cx="10817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Көпмүшені стандарт түрге келтіреді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1672" y="-2743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48872" y="457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914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МИҒА ШАБУЫЛ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84737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200" b="0" i="0" dirty="0" err="1">
                <a:solidFill>
                  <a:srgbClr val="D4A0FF"/>
                </a:solidFill>
                <a:latin typeface="Calibri"/>
              </a:rPr>
              <a:t>Өткен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4A0FF"/>
                </a:solidFill>
                <a:latin typeface="Calibri"/>
              </a:rPr>
              <a:t>тақырыпты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4A0FF"/>
                </a:solidFill>
                <a:latin typeface="Calibri"/>
              </a:rPr>
              <a:t>қайталау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D4A0FF"/>
                </a:solidFill>
                <a:latin typeface="Calibri"/>
              </a:rPr>
              <a:t>Бірмүшелер</a:t>
            </a:r>
            <a:endParaRPr sz="1200" b="0" i="0" dirty="0">
              <a:solidFill>
                <a:srgbClr val="D4A0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83112" y="5486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r"/>
            <a:r>
              <a:rPr sz="1200" b="0" i="0">
                <a:solidFill>
                  <a:srgbClr val="FFD180"/>
                </a:solidFill>
                <a:latin typeface="Calibri"/>
              </a:rPr>
              <a:t>3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326979"/>
            <a:ext cx="36576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900" b="0" i="0" dirty="0">
                <a:solidFill>
                  <a:srgbClr val="BB9DF0"/>
                </a:solidFill>
                <a:latin typeface="Calibri"/>
              </a:rPr>
              <a:t> ·  7-сынып  ·  </a:t>
            </a:r>
            <a:r>
              <a:rPr sz="900" b="0" i="0" dirty="0" err="1">
                <a:solidFill>
                  <a:srgbClr val="BB9DF0"/>
                </a:solidFill>
                <a:latin typeface="Calibri"/>
              </a:rPr>
              <a:t>Алгебра</a:t>
            </a:r>
            <a:endParaRPr sz="900" b="0" i="0" dirty="0">
              <a:solidFill>
                <a:srgbClr val="BB9DF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709928"/>
            <a:ext cx="11274552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874294"/>
            <a:ext cx="640080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lang="kk-KZ" sz="2000" b="1" dirty="0" err="1">
                <a:solidFill>
                  <a:srgbClr val="6D28D9"/>
                </a:solidFill>
                <a:latin typeface="Calibri"/>
              </a:rPr>
              <a:t>Вик</a:t>
            </a:r>
            <a:r>
              <a:rPr sz="2000" b="1" i="0" dirty="0" err="1">
                <a:solidFill>
                  <a:srgbClr val="6D28D9"/>
                </a:solidFill>
                <a:latin typeface="Calibri"/>
              </a:rPr>
              <a:t>торина</a:t>
            </a:r>
            <a:r>
              <a:rPr sz="2000" b="1" i="0" dirty="0">
                <a:solidFill>
                  <a:srgbClr val="6D28D9"/>
                </a:solidFill>
                <a:latin typeface="Calibri"/>
              </a:rPr>
              <a:t> · </a:t>
            </a:r>
            <a:r>
              <a:rPr sz="2000" b="1" i="0" dirty="0" err="1">
                <a:solidFill>
                  <a:srgbClr val="6D28D9"/>
                </a:solidFill>
                <a:latin typeface="Calibri"/>
              </a:rPr>
              <a:t>Бірмүшелерді</a:t>
            </a:r>
            <a:r>
              <a:rPr sz="2000" b="1" i="0" dirty="0">
                <a:solidFill>
                  <a:srgbClr val="6D28D9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6D28D9"/>
                </a:solidFill>
                <a:latin typeface="Calibri"/>
              </a:rPr>
              <a:t>қайталаймыз</a:t>
            </a:r>
            <a:endParaRPr sz="2000" b="1" i="0" dirty="0">
              <a:solidFill>
                <a:srgbClr val="6D28D9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670048"/>
            <a:ext cx="5486400" cy="640080"/>
          </a:xfrm>
          <a:prstGeom prst="rect">
            <a:avLst/>
          </a:prstGeom>
          <a:solidFill>
            <a:srgbClr val="EEE9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589978"/>
            <a:ext cx="521208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r>
              <a:rPr sz="1400" b="0" i="0" dirty="0">
                <a:solidFill>
                  <a:srgbClr val="6D28D9"/>
                </a:solidFill>
                <a:latin typeface="Calibri"/>
              </a:rPr>
              <a:t>🔗  </a:t>
            </a:r>
            <a:r>
              <a:rPr lang="en-US" sz="1400" dirty="0">
                <a:solidFill>
                  <a:srgbClr val="6D28D9"/>
                </a:solidFill>
                <a:hlinkClick r:id="rId2"/>
              </a:rPr>
              <a:t>https://wordwall.net/kk/resource/57606980?wwmethod=link</a:t>
            </a:r>
            <a:endParaRPr lang="kk-KZ" sz="1400" dirty="0">
              <a:solidFill>
                <a:srgbClr val="6D28D9"/>
              </a:solidFill>
            </a:endParaRPr>
          </a:p>
          <a:p>
            <a:endParaRPr lang="kk-KZ" sz="1400" b="0" i="0" dirty="0">
              <a:solidFill>
                <a:srgbClr val="6D28D9"/>
              </a:solidFill>
              <a:latin typeface="Calibri"/>
            </a:endParaRPr>
          </a:p>
          <a:p>
            <a:pPr algn="l"/>
            <a:endParaRPr sz="1400" b="0" i="0" dirty="0">
              <a:solidFill>
                <a:srgbClr val="6D28D9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493008"/>
            <a:ext cx="5943600" cy="928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>
              <a:spcBef>
                <a:spcPts val="500"/>
              </a:spcBef>
            </a:pPr>
            <a:r>
              <a:rPr sz="1400" b="0" i="0" dirty="0">
                <a:solidFill>
                  <a:srgbClr val="1E1B4B"/>
                </a:solidFill>
                <a:latin typeface="Calibri"/>
              </a:rPr>
              <a:t>▸ 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Сілтемеге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өтіп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викторинаға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қатысыңыз</a:t>
            </a:r>
            <a:endParaRPr sz="1400" b="0" i="0" dirty="0">
              <a:solidFill>
                <a:srgbClr val="1E1B4B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 i="0" dirty="0">
                <a:solidFill>
                  <a:srgbClr val="1E1B4B"/>
                </a:solidFill>
                <a:latin typeface="Calibri"/>
              </a:rPr>
              <a:t>▸ 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Барлық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сұраққа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жауап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беріңіз</a:t>
            </a:r>
            <a:endParaRPr sz="1400" b="0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72400" y="1755648"/>
            <a:ext cx="3200400" cy="3200400"/>
          </a:xfrm>
          <a:prstGeom prst="ellipse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2662904"/>
            <a:ext cx="2926080" cy="1477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endParaRPr sz="7200" b="0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08976" y="400300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500" b="1" i="0" dirty="0" err="1">
                <a:solidFill>
                  <a:srgbClr val="6D28D9"/>
                </a:solidFill>
                <a:latin typeface="Calibri"/>
              </a:rPr>
              <a:t>Өткенді</a:t>
            </a:r>
            <a:r>
              <a:rPr sz="1500" b="1" i="0" dirty="0">
                <a:solidFill>
                  <a:srgbClr val="6D28D9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6D28D9"/>
                </a:solidFill>
                <a:latin typeface="Calibri"/>
              </a:rPr>
              <a:t>еске</a:t>
            </a:r>
            <a:r>
              <a:rPr sz="1500" b="1" i="0" dirty="0">
                <a:solidFill>
                  <a:srgbClr val="6D28D9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6D28D9"/>
                </a:solidFill>
                <a:latin typeface="Calibri"/>
              </a:rPr>
              <a:t>түсір</a:t>
            </a:r>
            <a:r>
              <a:rPr sz="1500" b="1" i="0" dirty="0">
                <a:solidFill>
                  <a:srgbClr val="6D28D9"/>
                </a:solidFill>
                <a:latin typeface="Calibri"/>
              </a:rPr>
              <a:t>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38928"/>
            <a:ext cx="11274552" cy="1097280"/>
          </a:xfrm>
          <a:prstGeom prst="rect">
            <a:avLst/>
          </a:prstGeom>
          <a:solidFill>
            <a:srgbClr val="FFF9C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138928"/>
            <a:ext cx="9144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5230368"/>
            <a:ext cx="11018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▸  Еске түсіру сұрақтары: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Бірмүше деп не дейміз?  Бірмүшенің дәрежесін қалай табамыз?</a:t>
            </a:r>
          </a:p>
        </p:txBody>
      </p:sp>
      <p:pic>
        <p:nvPicPr>
          <p:cNvPr id="24" name="Рисунок 23" descr="Изображение выглядит как текст, символ, Шрифт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B7F8BC2-7BF0-6D96-1D68-357E3A584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80834" y="2393228"/>
            <a:ext cx="3456431" cy="2677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1672" y="-2743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48872" y="457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914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ЖАҢА ТАҚЫРЫП — АНЫҚТАМА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5486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r"/>
            <a:r>
              <a:rPr sz="1200" b="0" i="0">
                <a:solidFill>
                  <a:srgbClr val="FFD180"/>
                </a:solidFill>
                <a:latin typeface="Calibri"/>
              </a:rPr>
              <a:t>4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308127"/>
            <a:ext cx="36576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900" b="0" i="0" dirty="0">
                <a:solidFill>
                  <a:srgbClr val="BB9DF0"/>
                </a:solidFill>
                <a:latin typeface="Calibri"/>
              </a:rPr>
              <a:t>  ·  7-сынып  ·  </a:t>
            </a:r>
            <a:r>
              <a:rPr sz="900" b="0" i="0" dirty="0" err="1">
                <a:solidFill>
                  <a:srgbClr val="BB9DF0"/>
                </a:solidFill>
                <a:latin typeface="Calibri"/>
              </a:rPr>
              <a:t>Алгебра</a:t>
            </a:r>
            <a:endParaRPr sz="900" b="0" i="0" dirty="0">
              <a:solidFill>
                <a:srgbClr val="BB9DF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1618488"/>
            <a:ext cx="11548872" cy="1325880"/>
          </a:xfrm>
          <a:prstGeom prst="rect">
            <a:avLst/>
          </a:prstGeom>
          <a:solidFill>
            <a:srgbClr val="EEE9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618488"/>
            <a:ext cx="91440" cy="13258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1709928"/>
            <a:ext cx="11292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📌  Анықтама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Бірмүшелердің алгебралық қосындысы КӨПМҮШЕ деп аталады.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Көпмүшені құрайтын бірмүшелердің әрқайсысын МҮШЕЛЕР деп атайды.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81528"/>
            <a:ext cx="5669280" cy="1371600"/>
          </a:xfrm>
          <a:prstGeom prst="rect">
            <a:avLst/>
          </a:prstGeom>
          <a:solidFill>
            <a:srgbClr val="FFF3E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5440680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Мысал: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2x² − 3x + 5  — бұл көпмүше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Мүшелері:  2x²,  −3x, 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081528"/>
            <a:ext cx="5623560" cy="1371600"/>
          </a:xfrm>
          <a:prstGeom prst="rect">
            <a:avLst/>
          </a:prstGeom>
          <a:solidFill>
            <a:srgbClr val="FCE7F3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081528"/>
            <a:ext cx="91440" cy="13716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172968"/>
            <a:ext cx="5303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🔖  Арнайы атаулар: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Екімүше — 2 мүшеден тұрса  (мысалы: 3x + 5)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Үшмүше — 3 мүшеден тұрса  (мысалы: x² + 2x − 1)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Бірмүше — 1 мүшеден тұрады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81728"/>
            <a:ext cx="115488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773168"/>
            <a:ext cx="1097280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700" b="1" i="0" dirty="0">
                <a:solidFill>
                  <a:srgbClr val="6D28D9"/>
                </a:solidFill>
                <a:latin typeface="Calibri"/>
              </a:rPr>
              <a:t>3a²b  −  5ab²  +  7a  −  2  — </a:t>
            </a:r>
            <a:r>
              <a:rPr sz="1700" b="1" i="0" dirty="0" err="1">
                <a:solidFill>
                  <a:srgbClr val="6D28D9"/>
                </a:solidFill>
                <a:latin typeface="Calibri"/>
              </a:rPr>
              <a:t>бұл</a:t>
            </a:r>
            <a:r>
              <a:rPr sz="1700" b="1" i="0" dirty="0">
                <a:solidFill>
                  <a:srgbClr val="6D28D9"/>
                </a:solidFill>
                <a:latin typeface="Calibri"/>
              </a:rPr>
              <a:t> 4 </a:t>
            </a:r>
            <a:r>
              <a:rPr sz="1700" b="1" i="0" dirty="0" err="1">
                <a:solidFill>
                  <a:srgbClr val="6D28D9"/>
                </a:solidFill>
                <a:latin typeface="Calibri"/>
              </a:rPr>
              <a:t>мүшеден</a:t>
            </a:r>
            <a:r>
              <a:rPr sz="1700" b="1" i="0" dirty="0">
                <a:solidFill>
                  <a:srgbClr val="6D28D9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6D28D9"/>
                </a:solidFill>
                <a:latin typeface="Calibri"/>
              </a:rPr>
              <a:t>тұратын</a:t>
            </a:r>
            <a:r>
              <a:rPr sz="1700" b="1" i="0" dirty="0">
                <a:solidFill>
                  <a:srgbClr val="6D28D9"/>
                </a:solidFill>
                <a:latin typeface="Calibri"/>
              </a:rPr>
              <a:t> </a:t>
            </a:r>
            <a:r>
              <a:rPr lang="kk-KZ" sz="1700" b="1" dirty="0">
                <a:solidFill>
                  <a:srgbClr val="6D28D9"/>
                </a:solidFill>
                <a:latin typeface="Calibri"/>
              </a:rPr>
              <a:t>КӨП</a:t>
            </a:r>
            <a:r>
              <a:rPr sz="1700" b="1" i="0" dirty="0">
                <a:solidFill>
                  <a:srgbClr val="6D28D9"/>
                </a:solidFill>
                <a:latin typeface="Calibri"/>
              </a:rPr>
              <a:t>МҮШЕ</a:t>
            </a:r>
          </a:p>
          <a:p>
            <a:pPr algn="l">
              <a:spcBef>
                <a:spcPts val="800"/>
              </a:spcBef>
            </a:pPr>
            <a:r>
              <a:rPr sz="1400" b="0" i="0" dirty="0">
                <a:solidFill>
                  <a:srgbClr val="1E1B4B"/>
                </a:solidFill>
                <a:latin typeface="Calibri"/>
              </a:rPr>
              <a:t>  1-мүше: 3a²b        2-мүше: −5ab²        3-мүше: 7a        4-мүше: −2</a:t>
            </a:r>
          </a:p>
          <a:p>
            <a:pPr algn="l">
              <a:spcBef>
                <a:spcPts val="400"/>
              </a:spcBef>
            </a:pPr>
            <a:r>
              <a:rPr sz="1300" b="0" i="1" dirty="0">
                <a:solidFill>
                  <a:srgbClr val="6D28D9"/>
                </a:solidFill>
                <a:latin typeface="Calibri"/>
              </a:rPr>
              <a:t>  </a:t>
            </a:r>
            <a:r>
              <a:rPr sz="1300" b="0" i="1" dirty="0" err="1">
                <a:solidFill>
                  <a:srgbClr val="6D28D9"/>
                </a:solidFill>
                <a:latin typeface="Calibri"/>
              </a:rPr>
              <a:t>Жоғарыдағы</a:t>
            </a:r>
            <a:r>
              <a:rPr sz="1300" b="0" i="1" dirty="0">
                <a:solidFill>
                  <a:srgbClr val="6D28D9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D28D9"/>
                </a:solidFill>
                <a:latin typeface="Calibri"/>
              </a:rPr>
              <a:t>көпмүше</a:t>
            </a:r>
            <a:r>
              <a:rPr sz="1300" b="0" i="1" dirty="0">
                <a:solidFill>
                  <a:srgbClr val="6D28D9"/>
                </a:solidFill>
                <a:latin typeface="Calibri"/>
              </a:rPr>
              <a:t>  БІРМҮШЕ  </a:t>
            </a:r>
            <a:r>
              <a:rPr sz="1300" b="0" i="1" dirty="0" err="1">
                <a:solidFill>
                  <a:srgbClr val="6D28D9"/>
                </a:solidFill>
                <a:latin typeface="Calibri"/>
              </a:rPr>
              <a:t>емес</a:t>
            </a:r>
            <a:r>
              <a:rPr sz="1300" b="0" i="1" dirty="0">
                <a:solidFill>
                  <a:srgbClr val="6D28D9"/>
                </a:solidFill>
                <a:latin typeface="Calibri"/>
              </a:rPr>
              <a:t>, </a:t>
            </a:r>
            <a:r>
              <a:rPr sz="1300" b="0" i="1" dirty="0" err="1">
                <a:solidFill>
                  <a:srgbClr val="6D28D9"/>
                </a:solidFill>
                <a:latin typeface="Calibri"/>
              </a:rPr>
              <a:t>өйткені</a:t>
            </a:r>
            <a:r>
              <a:rPr sz="1300" b="0" i="1" dirty="0">
                <a:solidFill>
                  <a:srgbClr val="6D28D9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D28D9"/>
                </a:solidFill>
                <a:latin typeface="Calibri"/>
              </a:rPr>
              <a:t>ол</a:t>
            </a:r>
            <a:r>
              <a:rPr sz="1300" b="0" i="1" dirty="0">
                <a:solidFill>
                  <a:srgbClr val="6D28D9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D28D9"/>
                </a:solidFill>
                <a:latin typeface="Calibri"/>
              </a:rPr>
              <a:t>бірнеше</a:t>
            </a:r>
            <a:r>
              <a:rPr sz="1300" b="0" i="1" dirty="0">
                <a:solidFill>
                  <a:srgbClr val="6D28D9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D28D9"/>
                </a:solidFill>
                <a:latin typeface="Calibri"/>
              </a:rPr>
              <a:t>мүшеден</a:t>
            </a:r>
            <a:r>
              <a:rPr sz="1300" b="0" i="1" dirty="0">
                <a:solidFill>
                  <a:srgbClr val="6D28D9"/>
                </a:solidFill>
                <a:latin typeface="Calibri"/>
              </a:rPr>
              <a:t> </a:t>
            </a:r>
            <a:r>
              <a:rPr sz="1300" b="0" i="1" dirty="0" err="1">
                <a:solidFill>
                  <a:srgbClr val="6D28D9"/>
                </a:solidFill>
                <a:latin typeface="Calibri"/>
              </a:rPr>
              <a:t>тұрады</a:t>
            </a:r>
            <a:r>
              <a:rPr sz="1300" b="0" i="1" dirty="0">
                <a:solidFill>
                  <a:srgbClr val="6D28D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1672" y="-2743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48872" y="457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914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ҰҚСАС МҮШЕЛЕР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5486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r"/>
            <a:r>
              <a:rPr sz="1200" b="0" i="0">
                <a:solidFill>
                  <a:srgbClr val="FFD180"/>
                </a:solidFill>
                <a:latin typeface="Calibri"/>
              </a:rPr>
              <a:t>5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300216"/>
            <a:ext cx="36576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900" b="0" i="0" dirty="0">
                <a:solidFill>
                  <a:srgbClr val="BB9DF0"/>
                </a:solidFill>
                <a:latin typeface="Calibri"/>
              </a:rPr>
              <a:t> ·  7-сынып  ·  </a:t>
            </a:r>
            <a:r>
              <a:rPr sz="900" b="0" i="0" dirty="0" err="1">
                <a:solidFill>
                  <a:srgbClr val="BB9DF0"/>
                </a:solidFill>
                <a:latin typeface="Calibri"/>
              </a:rPr>
              <a:t>Алгебра</a:t>
            </a:r>
            <a:endParaRPr sz="900" b="0" i="0" dirty="0">
              <a:solidFill>
                <a:srgbClr val="BB9DF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1618488"/>
            <a:ext cx="11548872" cy="1234440"/>
          </a:xfrm>
          <a:prstGeom prst="rect">
            <a:avLst/>
          </a:prstGeom>
          <a:solidFill>
            <a:srgbClr val="EEE9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618488"/>
            <a:ext cx="91440" cy="1234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1709928"/>
            <a:ext cx="11292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📌  Анықтама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Бірдей немесе коэффициенттері ғана өзгеше бірмүшелерді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ҰҚСАС МҮШЕЛЕР деп атаймыз.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35808"/>
            <a:ext cx="5394960" cy="132588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035808"/>
            <a:ext cx="91440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127248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✓  ҰҚСАС мүшелер: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5x²  және  3x²  →  ұқсас  (бірдей буынды)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7ab  және  −2ab  →  ұқсас  (бірдей буынды)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035808"/>
            <a:ext cx="5897880" cy="1325880"/>
          </a:xfrm>
          <a:prstGeom prst="rect">
            <a:avLst/>
          </a:prstGeom>
          <a:solidFill>
            <a:srgbClr val="FCE7F3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89320" y="3035808"/>
            <a:ext cx="91440" cy="13258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3127248"/>
            <a:ext cx="5577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✗  ҰҚСАС ЕМЕС мүшелер:</a:t>
            </a:r>
          </a:p>
          <a:p>
            <a:pPr algn="l">
              <a:spcBef>
                <a:spcPts val="5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5x²  және  3x  →  ұқсас емес  (дәреже өзгеше)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7ab  және  7a²b  →  ұқсас емес  (буын өзгеше)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544568"/>
            <a:ext cx="11548872" cy="1005840"/>
          </a:xfrm>
          <a:prstGeom prst="rect">
            <a:avLst/>
          </a:prstGeom>
          <a:solidFill>
            <a:srgbClr val="FFF9C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4544568"/>
            <a:ext cx="9144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367375"/>
            <a:ext cx="11292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200" b="1" i="0" dirty="0">
                <a:solidFill>
                  <a:srgbClr val="6D28D9"/>
                </a:solidFill>
                <a:latin typeface="Calibri"/>
              </a:rPr>
              <a:t>📐  </a:t>
            </a:r>
            <a:r>
              <a:rPr sz="1200" b="1" i="0" dirty="0" err="1">
                <a:solidFill>
                  <a:srgbClr val="6D28D9"/>
                </a:solidFill>
                <a:latin typeface="Calibri"/>
              </a:rPr>
              <a:t>Ережесі</a:t>
            </a:r>
            <a:endParaRPr sz="1200" b="1" i="0" dirty="0">
              <a:solidFill>
                <a:srgbClr val="6D28D9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400" b="0" i="0" dirty="0" err="1">
                <a:solidFill>
                  <a:srgbClr val="1E1B4B"/>
                </a:solidFill>
                <a:latin typeface="Calibri"/>
              </a:rPr>
              <a:t>Ұқсас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мүшелердің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алгебралық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қосындысын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бірмүшемен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алмастыруды</a:t>
            </a:r>
            <a:endParaRPr sz="1400" b="0" i="0" dirty="0">
              <a:solidFill>
                <a:srgbClr val="1E1B4B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400" b="0" i="0" dirty="0">
                <a:solidFill>
                  <a:srgbClr val="1E1B4B"/>
                </a:solidFill>
                <a:latin typeface="Calibri"/>
              </a:rPr>
              <a:t>ҰҚСАС МҮШЕЛЕРДІ БІРІКТІРУ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деп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атаймыз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641848"/>
            <a:ext cx="11548872" cy="822960"/>
          </a:xfrm>
          <a:prstGeom prst="rect">
            <a:avLst/>
          </a:prstGeom>
          <a:solidFill>
            <a:srgbClr val="FFF3E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394514"/>
            <a:ext cx="1132027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Мысал: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5x² + 3x² = (5 + 3)x² = 8x²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E1B4B"/>
                </a:solidFill>
                <a:latin typeface="Calibri"/>
              </a:rPr>
              <a:t>7ab − 2ab + ab = (7 − 2 + 1)ab = 6ab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1672" y="-2743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48872" y="457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914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КӨПМҮШЕНІҢ ДӘРЕЖЕСІ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5486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r"/>
            <a:r>
              <a:rPr sz="1200" b="0" i="0">
                <a:solidFill>
                  <a:srgbClr val="FFD180"/>
                </a:solidFill>
                <a:latin typeface="Calibri"/>
              </a:rPr>
              <a:t>6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310698"/>
            <a:ext cx="36576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900" b="0" i="0" dirty="0">
                <a:solidFill>
                  <a:srgbClr val="BB9DF0"/>
                </a:solidFill>
                <a:latin typeface="Calibri"/>
              </a:rPr>
              <a:t> ·  7-сынып  ·  </a:t>
            </a:r>
            <a:r>
              <a:rPr sz="900" b="0" i="0" dirty="0" err="1">
                <a:solidFill>
                  <a:srgbClr val="BB9DF0"/>
                </a:solidFill>
                <a:latin typeface="Calibri"/>
              </a:rPr>
              <a:t>Алгебра</a:t>
            </a:r>
            <a:endParaRPr sz="900" b="0" i="0" dirty="0">
              <a:solidFill>
                <a:srgbClr val="BB9DF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1618488"/>
            <a:ext cx="11548872" cy="1188720"/>
          </a:xfrm>
          <a:prstGeom prst="rect">
            <a:avLst/>
          </a:prstGeom>
          <a:solidFill>
            <a:srgbClr val="EEE9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618488"/>
            <a:ext cx="91440" cy="1188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1591725"/>
            <a:ext cx="11292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200" b="1" i="0" dirty="0">
                <a:solidFill>
                  <a:srgbClr val="6D28D9"/>
                </a:solidFill>
                <a:latin typeface="Calibri"/>
              </a:rPr>
              <a:t>📌  </a:t>
            </a:r>
            <a:r>
              <a:rPr sz="1200" b="1" i="0" dirty="0" err="1">
                <a:solidFill>
                  <a:srgbClr val="6D28D9"/>
                </a:solidFill>
                <a:latin typeface="Calibri"/>
              </a:rPr>
              <a:t>Анықтама</a:t>
            </a:r>
            <a:endParaRPr sz="1200" b="1" i="0" dirty="0">
              <a:solidFill>
                <a:srgbClr val="6D28D9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400" b="0" i="0" dirty="0" err="1">
                <a:solidFill>
                  <a:srgbClr val="1E1B4B"/>
                </a:solidFill>
                <a:latin typeface="Calibri"/>
              </a:rPr>
              <a:t>Көпмүшенің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ДӘРЕЖЕСІ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деп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оның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құрамындағы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бірмүше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дәрежелерінің</a:t>
            </a:r>
            <a:endParaRPr sz="1400" b="0" i="0" dirty="0">
              <a:solidFill>
                <a:srgbClr val="1E1B4B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400" b="0" i="0" dirty="0" err="1">
                <a:solidFill>
                  <a:srgbClr val="1E1B4B"/>
                </a:solidFill>
                <a:latin typeface="Calibri"/>
              </a:rPr>
              <a:t>ең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үлкенін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айтады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90088"/>
            <a:ext cx="3758184" cy="320040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2990088"/>
            <a:ext cx="3758184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935224"/>
            <a:ext cx="357530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700" b="1" i="0" dirty="0">
                <a:solidFill>
                  <a:srgbClr val="FFFFFF"/>
                </a:solidFill>
                <a:latin typeface="Calibri"/>
              </a:rPr>
              <a:t>5x³ + 2x² − 7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84448"/>
            <a:ext cx="352958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Бірмүше дәрежелері: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5x³ → 3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2x² → 2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7  →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641848"/>
            <a:ext cx="3575304" cy="4297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382" y="5559552"/>
            <a:ext cx="348386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600" b="1" i="0" dirty="0" err="1">
                <a:solidFill>
                  <a:srgbClr val="FFFFFF"/>
                </a:solidFill>
                <a:latin typeface="Calibri"/>
              </a:rPr>
              <a:t>Дәрежесі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: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5384" y="2990088"/>
            <a:ext cx="3758184" cy="3200400"/>
          </a:xfrm>
          <a:prstGeom prst="rect">
            <a:avLst/>
          </a:prstGeom>
          <a:solidFill>
            <a:srgbClr val="FFF3E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15384" y="2990088"/>
            <a:ext cx="3758184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06824" y="2935224"/>
            <a:ext cx="357530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700" b="1" i="0" dirty="0">
                <a:solidFill>
                  <a:srgbClr val="FFFFFF"/>
                </a:solidFill>
                <a:latin typeface="Calibri"/>
              </a:rPr>
              <a:t>4a²b³ − 3ab + 6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3584448"/>
            <a:ext cx="352958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Бірмүше дәрежелері: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4a²b³ → 2+3 = 5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3ab → 2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6 →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5641848"/>
            <a:ext cx="3575304" cy="4297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52480" y="5559552"/>
            <a:ext cx="348386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600" b="1" i="0" dirty="0" err="1">
                <a:solidFill>
                  <a:srgbClr val="FFFFFF"/>
                </a:solidFill>
                <a:latin typeface="Calibri"/>
              </a:rPr>
              <a:t>Дәрежесі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: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0728" y="2990088"/>
            <a:ext cx="3758184" cy="3200400"/>
          </a:xfrm>
          <a:prstGeom prst="rect">
            <a:avLst/>
          </a:prstGeom>
          <a:solidFill>
            <a:srgbClr val="FCE7F3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10728" y="2990088"/>
            <a:ext cx="3758184" cy="502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2168" y="2932772"/>
            <a:ext cx="357530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700" b="1" i="0" dirty="0">
                <a:solidFill>
                  <a:srgbClr val="FFFFFF"/>
                </a:solidFill>
                <a:latin typeface="Calibri"/>
              </a:rPr>
              <a:t>7x⁴ − 2x³ + x − 9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584448"/>
            <a:ext cx="352958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Бірмүше дәрежелері: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7x⁴ → 4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2x³ → 3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x → 1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9 →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02168" y="5641848"/>
            <a:ext cx="3575304" cy="4297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5559552"/>
            <a:ext cx="348386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600" b="1" i="0" dirty="0" err="1">
                <a:solidFill>
                  <a:srgbClr val="FFFFFF"/>
                </a:solidFill>
                <a:latin typeface="Calibri"/>
              </a:rPr>
              <a:t>Дәрежесі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: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1672" y="-2743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48872" y="457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914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СТАНДАРТ ТҮРІ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5486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r"/>
            <a:r>
              <a:rPr sz="1200" b="0" i="0">
                <a:solidFill>
                  <a:srgbClr val="FFD180"/>
                </a:solidFill>
                <a:latin typeface="Calibri"/>
              </a:rPr>
              <a:t>7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299659"/>
            <a:ext cx="36576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900" b="0" i="0" dirty="0">
                <a:solidFill>
                  <a:srgbClr val="BB9DF0"/>
                </a:solidFill>
                <a:latin typeface="Calibri"/>
              </a:rPr>
              <a:t>  ·  7-сынып  ·  </a:t>
            </a:r>
            <a:r>
              <a:rPr sz="900" b="0" i="0" dirty="0" err="1">
                <a:solidFill>
                  <a:srgbClr val="BB9DF0"/>
                </a:solidFill>
                <a:latin typeface="Calibri"/>
              </a:rPr>
              <a:t>Алгебра</a:t>
            </a:r>
            <a:endParaRPr sz="900" b="0" i="0" dirty="0">
              <a:solidFill>
                <a:srgbClr val="BB9DF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1618488"/>
            <a:ext cx="11548872" cy="1188720"/>
          </a:xfrm>
          <a:prstGeom prst="rect">
            <a:avLst/>
          </a:prstGeom>
          <a:solidFill>
            <a:srgbClr val="EEE9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618488"/>
            <a:ext cx="91440" cy="1188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1563624"/>
            <a:ext cx="11292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200" b="1" i="0" dirty="0">
                <a:solidFill>
                  <a:srgbClr val="6D28D9"/>
                </a:solidFill>
                <a:latin typeface="Calibri"/>
              </a:rPr>
              <a:t>📌  </a:t>
            </a:r>
            <a:r>
              <a:rPr sz="1200" b="1" i="0" dirty="0" err="1">
                <a:solidFill>
                  <a:srgbClr val="6D28D9"/>
                </a:solidFill>
                <a:latin typeface="Calibri"/>
              </a:rPr>
              <a:t>Анықтама</a:t>
            </a:r>
            <a:endParaRPr sz="1200" b="1" i="0" dirty="0">
              <a:solidFill>
                <a:srgbClr val="6D28D9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400" b="0" i="0" dirty="0" err="1">
                <a:solidFill>
                  <a:srgbClr val="1E1B4B"/>
                </a:solidFill>
                <a:latin typeface="Calibri"/>
              </a:rPr>
              <a:t>Ұқсас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мүшелері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жоқ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және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мүшелері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дәрежесінің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КЕМУ РЕТІМЕН</a:t>
            </a:r>
          </a:p>
          <a:p>
            <a:pPr algn="l">
              <a:spcBef>
                <a:spcPts val="200"/>
              </a:spcBef>
            </a:pPr>
            <a:r>
              <a:rPr sz="1400" b="0" i="0" dirty="0" err="1">
                <a:solidFill>
                  <a:srgbClr val="1E1B4B"/>
                </a:solidFill>
                <a:latin typeface="Calibri"/>
              </a:rPr>
              <a:t>жазылған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көпмүше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— СТАНДАРТ ТҮРДЕГІ КӨПМҮШЕ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деп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аталады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785" y="3013367"/>
            <a:ext cx="4731462" cy="2240001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0584" y="3158807"/>
            <a:ext cx="4937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400" b="1" i="0" dirty="0" err="1">
                <a:solidFill>
                  <a:srgbClr val="6D28D9"/>
                </a:solidFill>
                <a:latin typeface="Calibri"/>
              </a:rPr>
              <a:t>Стандарт</a:t>
            </a:r>
            <a:r>
              <a:rPr sz="1400" b="1" i="0" dirty="0">
                <a:solidFill>
                  <a:srgbClr val="6D28D9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6D28D9"/>
                </a:solidFill>
                <a:latin typeface="Calibri"/>
              </a:rPr>
              <a:t>түрге</a:t>
            </a:r>
            <a:r>
              <a:rPr sz="1400" b="1" i="0" dirty="0">
                <a:solidFill>
                  <a:srgbClr val="6D28D9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6D28D9"/>
                </a:solidFill>
                <a:latin typeface="Calibri"/>
              </a:rPr>
              <a:t>келтіру</a:t>
            </a:r>
            <a:r>
              <a:rPr sz="1400" b="1" i="0" dirty="0">
                <a:solidFill>
                  <a:srgbClr val="6D28D9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6D28D9"/>
                </a:solidFill>
                <a:latin typeface="Calibri"/>
              </a:rPr>
              <a:t>жолдары</a:t>
            </a:r>
            <a:r>
              <a:rPr sz="1400" b="1" i="0" dirty="0">
                <a:solidFill>
                  <a:srgbClr val="6D28D9"/>
                </a:solidFill>
                <a:latin typeface="Calibri"/>
              </a:rPr>
              <a:t>:</a:t>
            </a:r>
          </a:p>
          <a:p>
            <a:pPr algn="l">
              <a:spcBef>
                <a:spcPts val="1000"/>
              </a:spcBef>
            </a:pPr>
            <a:r>
              <a:rPr sz="1400" b="0" i="0" dirty="0">
                <a:solidFill>
                  <a:srgbClr val="1E1B4B"/>
                </a:solidFill>
                <a:latin typeface="Calibri"/>
              </a:rPr>
              <a:t>1️⃣  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Ұқсас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мүшелерді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тауып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біріктіру</a:t>
            </a:r>
            <a:endParaRPr sz="1400" b="0" i="0" dirty="0">
              <a:solidFill>
                <a:srgbClr val="1E1B4B"/>
              </a:solidFill>
              <a:latin typeface="Calibri"/>
            </a:endParaRPr>
          </a:p>
          <a:p>
            <a:pPr algn="l">
              <a:spcBef>
                <a:spcPts val="1000"/>
              </a:spcBef>
            </a:pPr>
            <a:r>
              <a:rPr sz="1400" b="0" i="0" dirty="0">
                <a:solidFill>
                  <a:srgbClr val="1E1B4B"/>
                </a:solidFill>
                <a:latin typeface="Calibri"/>
              </a:rPr>
              <a:t>2️⃣  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Мүшелерді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дәреженің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КЕМУ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ретімен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жазу</a:t>
            </a:r>
            <a:endParaRPr sz="1400" b="0" i="0" dirty="0">
              <a:solidFill>
                <a:srgbClr val="1E1B4B"/>
              </a:solidFill>
              <a:latin typeface="Calibri"/>
            </a:endParaRPr>
          </a:p>
          <a:p>
            <a:pPr algn="l">
              <a:spcBef>
                <a:spcPts val="1000"/>
              </a:spcBef>
            </a:pPr>
            <a:r>
              <a:rPr sz="1400" b="0" i="0" dirty="0">
                <a:solidFill>
                  <a:srgbClr val="1E1B4B"/>
                </a:solidFill>
                <a:latin typeface="Calibri"/>
              </a:rPr>
              <a:t>3️⃣  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Нәтижені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тексеру</a:t>
            </a:r>
            <a:endParaRPr sz="1400" b="0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06440" y="3039683"/>
            <a:ext cx="5285232" cy="2263280"/>
          </a:xfrm>
          <a:prstGeom prst="rect">
            <a:avLst/>
          </a:prstGeom>
          <a:solidFill>
            <a:srgbClr val="FFF3E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06440" y="3008376"/>
            <a:ext cx="45719" cy="2294587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9320" y="3127248"/>
            <a:ext cx="5760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Мысал: стандарт түрге келтіру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1E1B4B"/>
                </a:solidFill>
                <a:latin typeface="Calibri"/>
              </a:rPr>
              <a:t>3x + 5x² − 2 + 4x − x²</a:t>
            </a:r>
          </a:p>
          <a:p>
            <a:pPr algn="l">
              <a:spcBef>
                <a:spcPts val="500"/>
              </a:spcBef>
            </a:pPr>
            <a:r>
              <a:rPr sz="1300" b="0" i="1">
                <a:solidFill>
                  <a:srgbClr val="6040B0"/>
                </a:solidFill>
                <a:latin typeface="Calibri"/>
              </a:rPr>
              <a:t>= 5x² − x² + 3x + 4x − 2</a:t>
            </a:r>
          </a:p>
          <a:p>
            <a:pPr algn="l">
              <a:spcBef>
                <a:spcPts val="300"/>
              </a:spcBef>
            </a:pPr>
            <a:r>
              <a:rPr sz="1300" b="0" i="1">
                <a:solidFill>
                  <a:srgbClr val="6040B0"/>
                </a:solidFill>
                <a:latin typeface="Calibri"/>
              </a:rPr>
              <a:t>= (5−1)x² + (3+4)x − 2</a:t>
            </a:r>
          </a:p>
          <a:p>
            <a:pPr algn="l">
              <a:spcBef>
                <a:spcPts val="600"/>
              </a:spcBef>
            </a:pPr>
            <a:r>
              <a:rPr sz="1600" b="1" i="0">
                <a:solidFill>
                  <a:srgbClr val="059669"/>
                </a:solidFill>
                <a:latin typeface="Calibri"/>
              </a:rPr>
              <a:t>= 4x² + 7x − 2  ✓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1E1B4B"/>
                </a:solidFill>
                <a:latin typeface="Calibri"/>
              </a:rPr>
              <a:t>Дәрежесі — 2  |  Мүшелер саны —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9976" y="5504131"/>
            <a:ext cx="11548872" cy="777240"/>
          </a:xfrm>
          <a:prstGeom prst="rect">
            <a:avLst/>
          </a:prstGeom>
          <a:solidFill>
            <a:srgbClr val="FFF3E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390528"/>
            <a:ext cx="11320272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100" b="1" i="0" dirty="0" err="1">
                <a:solidFill>
                  <a:srgbClr val="F97316"/>
                </a:solidFill>
                <a:latin typeface="Calibri"/>
              </a:rPr>
              <a:t>Мысал</a:t>
            </a:r>
            <a:r>
              <a:rPr sz="1100" b="1" i="0" dirty="0">
                <a:solidFill>
                  <a:srgbClr val="F97316"/>
                </a:solidFill>
                <a:latin typeface="Calibri"/>
              </a:rPr>
              <a:t>: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1E1B4B"/>
                </a:solidFill>
                <a:latin typeface="Calibri"/>
              </a:rPr>
              <a:t>7a² − 3a + 2a² + 5a  =  9a² + 2a  (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стандарт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түрі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дәрежесі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— 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1672" y="-2743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48872" y="457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914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КӨПМҮШЕЛЕРДІ ҚОСУ ЖӘНЕ АЗАЙТУ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5486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r"/>
            <a:r>
              <a:rPr sz="1200" b="0" i="0">
                <a:solidFill>
                  <a:srgbClr val="FFD180"/>
                </a:solidFill>
                <a:latin typeface="Calibri"/>
              </a:rPr>
              <a:t>8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672" y="6279586"/>
            <a:ext cx="36576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900" b="0" i="0" dirty="0">
                <a:solidFill>
                  <a:srgbClr val="BB9DF0"/>
                </a:solidFill>
                <a:latin typeface="Calibri"/>
              </a:rPr>
              <a:t>  ·  7-сынып  ·  </a:t>
            </a:r>
            <a:r>
              <a:rPr sz="900" b="0" i="0" dirty="0" err="1">
                <a:solidFill>
                  <a:srgbClr val="BB9DF0"/>
                </a:solidFill>
                <a:latin typeface="Calibri"/>
              </a:rPr>
              <a:t>Алгебра</a:t>
            </a:r>
            <a:endParaRPr sz="900" b="0" i="0" dirty="0">
              <a:solidFill>
                <a:srgbClr val="BB9DF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576072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5486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700" b="1" i="0" dirty="0">
                <a:solidFill>
                  <a:srgbClr val="FFFFFF"/>
                </a:solidFill>
                <a:latin typeface="Calibri"/>
              </a:rPr>
              <a:t>« + »  </a:t>
            </a:r>
            <a:r>
              <a:rPr sz="1700" b="1" i="0" dirty="0" err="1">
                <a:solidFill>
                  <a:srgbClr val="FFFFFF"/>
                </a:solidFill>
                <a:latin typeface="Calibri"/>
              </a:rPr>
              <a:t>таңбасы</a:t>
            </a:r>
            <a:r>
              <a:rPr sz="17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Calibri"/>
              </a:rPr>
              <a:t>болса</a:t>
            </a:r>
            <a:r>
              <a:rPr sz="1700" b="1" i="0" dirty="0">
                <a:solidFill>
                  <a:srgbClr val="FFFFFF"/>
                </a:solidFill>
                <a:latin typeface="Calibri"/>
              </a:rPr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04288"/>
            <a:ext cx="5760720" cy="5943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47082"/>
            <a:ext cx="5532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300" b="0" i="0" dirty="0" err="1">
                <a:solidFill>
                  <a:srgbClr val="059669"/>
                </a:solidFill>
                <a:latin typeface="Calibri"/>
              </a:rPr>
              <a:t>Жақша</a:t>
            </a:r>
            <a:r>
              <a:rPr sz="1300" b="0" i="0" dirty="0">
                <a:solidFill>
                  <a:srgbClr val="05966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59669"/>
                </a:solidFill>
                <a:latin typeface="Calibri"/>
              </a:rPr>
              <a:t>алдында</a:t>
            </a:r>
            <a:r>
              <a:rPr sz="1300" b="0" i="0" dirty="0">
                <a:solidFill>
                  <a:srgbClr val="059669"/>
                </a:solidFill>
                <a:latin typeface="Calibri"/>
              </a:rPr>
              <a:t>  " + "  </a:t>
            </a:r>
            <a:r>
              <a:rPr sz="1300" b="0" i="0" dirty="0" err="1">
                <a:solidFill>
                  <a:srgbClr val="059669"/>
                </a:solidFill>
                <a:latin typeface="Calibri"/>
              </a:rPr>
              <a:t>болса</a:t>
            </a:r>
            <a:endParaRPr sz="1300" b="0" i="0" dirty="0">
              <a:solidFill>
                <a:srgbClr val="059669"/>
              </a:solidFill>
              <a:latin typeface="Calibri"/>
            </a:endParaRPr>
          </a:p>
          <a:p>
            <a:pPr algn="ctr">
              <a:spcBef>
                <a:spcPts val="200"/>
              </a:spcBef>
            </a:pPr>
            <a:r>
              <a:rPr sz="1300" b="1" i="0" dirty="0">
                <a:solidFill>
                  <a:srgbClr val="1E1B4B"/>
                </a:solidFill>
                <a:latin typeface="Calibri"/>
              </a:rPr>
              <a:t>→ </a:t>
            </a:r>
            <a:r>
              <a:rPr sz="1300" b="1" i="0" dirty="0" err="1">
                <a:solidFill>
                  <a:srgbClr val="1E1B4B"/>
                </a:solidFill>
                <a:latin typeface="Calibri"/>
              </a:rPr>
              <a:t>мүшелердің</a:t>
            </a:r>
            <a:r>
              <a:rPr sz="130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E1B4B"/>
                </a:solidFill>
                <a:latin typeface="Calibri"/>
              </a:rPr>
              <a:t>таңбасы</a:t>
            </a:r>
            <a:r>
              <a:rPr sz="1300" b="1" i="0" dirty="0">
                <a:solidFill>
                  <a:srgbClr val="1E1B4B"/>
                </a:solidFill>
                <a:latin typeface="Calibri"/>
              </a:rPr>
              <a:t> ӨЗГЕРМЕЙДІ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35808"/>
            <a:ext cx="57607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172968"/>
            <a:ext cx="544068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Мысал: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E1B4B"/>
                </a:solidFill>
                <a:latin typeface="Calibri"/>
              </a:rPr>
              <a:t>(3x² + 2x) + (5x² − x)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06040"/>
                </a:solidFill>
                <a:latin typeface="Calibri"/>
              </a:rPr>
              <a:t>= 3x² + 2x + 5x² − x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06040"/>
                </a:solidFill>
                <a:latin typeface="Calibri"/>
              </a:rPr>
              <a:t>= 8x² + 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64208"/>
            <a:ext cx="5760720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9672" y="1600200"/>
            <a:ext cx="5486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700" b="1" i="0" dirty="0">
                <a:solidFill>
                  <a:srgbClr val="FFFFFF"/>
                </a:solidFill>
                <a:latin typeface="Calibri"/>
              </a:rPr>
              <a:t>« − »  </a:t>
            </a:r>
            <a:r>
              <a:rPr sz="1700" b="1" i="0" dirty="0" err="1">
                <a:solidFill>
                  <a:srgbClr val="FFFFFF"/>
                </a:solidFill>
                <a:latin typeface="Calibri"/>
              </a:rPr>
              <a:t>таңбасы</a:t>
            </a:r>
            <a:r>
              <a:rPr sz="17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Calibri"/>
              </a:rPr>
              <a:t>болса</a:t>
            </a:r>
            <a:r>
              <a:rPr sz="1700" b="1" i="0" dirty="0">
                <a:solidFill>
                  <a:srgbClr val="FFFFFF"/>
                </a:solidFill>
                <a:latin typeface="Calibri"/>
              </a:rPr>
              <a:t>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04288"/>
            <a:ext cx="5760720" cy="594360"/>
          </a:xfrm>
          <a:prstGeom prst="rect">
            <a:avLst/>
          </a:prstGeom>
          <a:solidFill>
            <a:srgbClr val="FCE7F3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2247082"/>
            <a:ext cx="55321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300" b="0" i="0" dirty="0" err="1">
                <a:solidFill>
                  <a:srgbClr val="EC4899"/>
                </a:solidFill>
                <a:latin typeface="Calibri"/>
              </a:rPr>
              <a:t>Жақша</a:t>
            </a:r>
            <a:r>
              <a:rPr sz="1300" b="0" i="0" dirty="0">
                <a:solidFill>
                  <a:srgbClr val="EC489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C4899"/>
                </a:solidFill>
                <a:latin typeface="Calibri"/>
              </a:rPr>
              <a:t>алдында</a:t>
            </a:r>
            <a:r>
              <a:rPr sz="1300" b="0" i="0" dirty="0">
                <a:solidFill>
                  <a:srgbClr val="EC4899"/>
                </a:solidFill>
                <a:latin typeface="Calibri"/>
              </a:rPr>
              <a:t>  " − "  </a:t>
            </a:r>
            <a:r>
              <a:rPr sz="1300" b="0" i="0" dirty="0" err="1">
                <a:solidFill>
                  <a:srgbClr val="EC4899"/>
                </a:solidFill>
                <a:latin typeface="Calibri"/>
              </a:rPr>
              <a:t>болса</a:t>
            </a:r>
            <a:endParaRPr sz="1300" b="0" i="0" dirty="0">
              <a:solidFill>
                <a:srgbClr val="EC4899"/>
              </a:solidFill>
              <a:latin typeface="Calibri"/>
            </a:endParaRPr>
          </a:p>
          <a:p>
            <a:pPr algn="ctr">
              <a:spcBef>
                <a:spcPts val="200"/>
              </a:spcBef>
            </a:pPr>
            <a:r>
              <a:rPr sz="1300" b="1" i="0" dirty="0">
                <a:solidFill>
                  <a:srgbClr val="1E1B4B"/>
                </a:solidFill>
                <a:latin typeface="Calibri"/>
              </a:rPr>
              <a:t>→ </a:t>
            </a:r>
            <a:r>
              <a:rPr sz="1300" b="1" i="0" dirty="0" err="1">
                <a:solidFill>
                  <a:srgbClr val="1E1B4B"/>
                </a:solidFill>
                <a:latin typeface="Calibri"/>
              </a:rPr>
              <a:t>жақша</a:t>
            </a:r>
            <a:r>
              <a:rPr sz="130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E1B4B"/>
                </a:solidFill>
                <a:latin typeface="Calibri"/>
              </a:rPr>
              <a:t>ішіндегі</a:t>
            </a:r>
            <a:r>
              <a:rPr sz="130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E1B4B"/>
                </a:solidFill>
                <a:latin typeface="Calibri"/>
              </a:rPr>
              <a:t>таңбалар</a:t>
            </a:r>
            <a:r>
              <a:rPr sz="1300" b="1" i="0" dirty="0">
                <a:solidFill>
                  <a:srgbClr val="1E1B4B"/>
                </a:solidFill>
                <a:latin typeface="Calibri"/>
              </a:rPr>
              <a:t> КЕРІСІНШЕ </a:t>
            </a:r>
            <a:r>
              <a:rPr sz="1300" b="1" i="0" dirty="0" err="1">
                <a:solidFill>
                  <a:srgbClr val="1E1B4B"/>
                </a:solidFill>
                <a:latin typeface="Calibri"/>
              </a:rPr>
              <a:t>болады</a:t>
            </a:r>
            <a:endParaRPr sz="1300" b="1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0" y="3035808"/>
            <a:ext cx="57607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3172968"/>
            <a:ext cx="544068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Мысал: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E1B4B"/>
                </a:solidFill>
                <a:latin typeface="Calibri"/>
              </a:rPr>
              <a:t>(3x² + 2x) − (5x² − x)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EC4899"/>
                </a:solidFill>
                <a:latin typeface="Calibri"/>
              </a:rPr>
              <a:t>= 3x² + 2x − 5x² + x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EC4899"/>
                </a:solidFill>
                <a:latin typeface="Calibri"/>
              </a:rPr>
              <a:t>= −2x² + 3x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596128"/>
            <a:ext cx="11548872" cy="914400"/>
          </a:xfrm>
          <a:prstGeom prst="rect">
            <a:avLst/>
          </a:prstGeom>
          <a:solidFill>
            <a:srgbClr val="FFF9C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19913" y="5577840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12" y="5557210"/>
            <a:ext cx="11292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200" b="1" i="0" dirty="0">
                <a:solidFill>
                  <a:srgbClr val="6D28D9"/>
                </a:solidFill>
                <a:latin typeface="Calibri"/>
              </a:rPr>
              <a:t>⚡  </a:t>
            </a:r>
            <a:r>
              <a:rPr sz="1200" b="1" i="0" dirty="0" err="1">
                <a:solidFill>
                  <a:srgbClr val="6D28D9"/>
                </a:solidFill>
                <a:latin typeface="Calibri"/>
              </a:rPr>
              <a:t>Маңызды</a:t>
            </a:r>
            <a:r>
              <a:rPr sz="1200" b="1" i="0" dirty="0">
                <a:solidFill>
                  <a:srgbClr val="6D28D9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6D28D9"/>
                </a:solidFill>
                <a:latin typeface="Calibri"/>
              </a:rPr>
              <a:t>ереже</a:t>
            </a:r>
            <a:endParaRPr sz="1200" b="1" i="0" dirty="0">
              <a:solidFill>
                <a:srgbClr val="6D28D9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400" b="0" i="0" dirty="0" err="1">
                <a:solidFill>
                  <a:srgbClr val="1E1B4B"/>
                </a:solidFill>
                <a:latin typeface="Calibri"/>
              </a:rPr>
              <a:t>Соңында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әрдайым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ұқсас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мүшелерді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біріктіріп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стандарт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түрге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келтіруді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ұмытпа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1672" y="-2743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48872" y="457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914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«ДҰРЫСЫН ТАП»  —  ПРАКТИКА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78181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200" b="0" i="0" dirty="0" err="1">
                <a:solidFill>
                  <a:srgbClr val="D4A0FF"/>
                </a:solidFill>
                <a:latin typeface="Calibri"/>
              </a:rPr>
              <a:t>Берілген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4A0FF"/>
                </a:solidFill>
                <a:latin typeface="Calibri"/>
              </a:rPr>
              <a:t>өрнектердің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4A0FF"/>
                </a:solidFill>
                <a:latin typeface="Calibri"/>
              </a:rPr>
              <a:t>көпмүше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4A0FF"/>
                </a:solidFill>
                <a:latin typeface="Calibri"/>
              </a:rPr>
              <a:t>екенін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4A0FF"/>
                </a:solidFill>
                <a:latin typeface="Calibri"/>
              </a:rPr>
              <a:t>анықтап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D4A0FF"/>
                </a:solidFill>
                <a:latin typeface="Calibri"/>
              </a:rPr>
              <a:t>дәрежесін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4A0FF"/>
                </a:solidFill>
                <a:latin typeface="Calibri"/>
              </a:rPr>
              <a:t>тап</a:t>
            </a:r>
            <a:endParaRPr sz="1200" b="0" i="0" dirty="0">
              <a:solidFill>
                <a:srgbClr val="D4A0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83112" y="5486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r"/>
            <a:r>
              <a:rPr sz="1200" b="0" i="0">
                <a:solidFill>
                  <a:srgbClr val="FFD180"/>
                </a:solidFill>
                <a:latin typeface="Calibri"/>
              </a:rPr>
              <a:t>9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571" y="6345936"/>
            <a:ext cx="36576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kk-KZ" dirty="0"/>
          </a:p>
          <a:p>
            <a:pPr algn="l"/>
            <a:r>
              <a:rPr sz="900" b="0" i="0" dirty="0">
                <a:solidFill>
                  <a:srgbClr val="BB9DF0"/>
                </a:solidFill>
                <a:latin typeface="Calibri"/>
              </a:rPr>
              <a:t> ·  7-сынып  ·  </a:t>
            </a:r>
            <a:r>
              <a:rPr sz="900" b="0" i="0" dirty="0" err="1">
                <a:solidFill>
                  <a:srgbClr val="BB9DF0"/>
                </a:solidFill>
                <a:latin typeface="Calibri"/>
              </a:rPr>
              <a:t>Алгебра</a:t>
            </a:r>
            <a:endParaRPr sz="900" b="0" i="0" dirty="0">
              <a:solidFill>
                <a:srgbClr val="BB9DF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5623560" cy="2103120"/>
          </a:xfrm>
          <a:prstGeom prst="rect">
            <a:avLst/>
          </a:prstGeom>
          <a:solidFill>
            <a:srgbClr val="EEE9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1801368"/>
            <a:ext cx="502920" cy="5029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5623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701899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sz="2200" b="1" i="0" dirty="0">
                <a:solidFill>
                  <a:srgbClr val="1E1B4B"/>
                </a:solidFill>
                <a:latin typeface="Calibri"/>
              </a:rPr>
              <a:t>3x² + 5x − 1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78608"/>
            <a:ext cx="5257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523744"/>
            <a:ext cx="5074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sz="1400" b="0" i="0" dirty="0" err="1">
                <a:solidFill>
                  <a:srgbClr val="9C92AC"/>
                </a:solidFill>
                <a:latin typeface="Calibri"/>
              </a:rPr>
              <a:t>Дәрежесі</a:t>
            </a:r>
            <a:r>
              <a:rPr sz="1400" b="0" i="0" dirty="0">
                <a:solidFill>
                  <a:srgbClr val="9C92AC"/>
                </a:solidFill>
                <a:latin typeface="Calibri"/>
              </a:rPr>
              <a:t>  =  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664208"/>
            <a:ext cx="5623560" cy="2103120"/>
          </a:xfrm>
          <a:prstGeom prst="rect">
            <a:avLst/>
          </a:prstGeom>
          <a:solidFill>
            <a:srgbClr val="FFF3E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0" y="1801368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85623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688295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sz="2200" b="1" i="0" dirty="0">
                <a:solidFill>
                  <a:srgbClr val="1E1B4B"/>
                </a:solidFill>
                <a:latin typeface="Calibri"/>
              </a:rPr>
              <a:t>7a³ − 2a + 4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578608"/>
            <a:ext cx="5257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2547831"/>
            <a:ext cx="5074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sz="1400" b="0" i="0" dirty="0" err="1">
                <a:solidFill>
                  <a:srgbClr val="9C92AC"/>
                </a:solidFill>
                <a:latin typeface="Calibri"/>
              </a:rPr>
              <a:t>Дәрежесі</a:t>
            </a:r>
            <a:r>
              <a:rPr sz="1400" b="0" i="0" dirty="0">
                <a:solidFill>
                  <a:srgbClr val="9C92AC"/>
                </a:solidFill>
                <a:latin typeface="Calibri"/>
              </a:rPr>
              <a:t>  =  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50208"/>
            <a:ext cx="5623560" cy="1746504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87368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14223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957122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sz="2200" b="1" i="0" dirty="0">
                <a:solidFill>
                  <a:srgbClr val="1E1B4B"/>
                </a:solidFill>
                <a:latin typeface="Calibri"/>
              </a:rPr>
              <a:t>5xy² + 3x − 6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64608"/>
            <a:ext cx="5257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820672"/>
            <a:ext cx="5074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sz="1400" b="0" i="0" dirty="0" err="1">
                <a:solidFill>
                  <a:srgbClr val="9C92AC"/>
                </a:solidFill>
                <a:latin typeface="Calibri"/>
              </a:rPr>
              <a:t>Дәрежесі</a:t>
            </a:r>
            <a:r>
              <a:rPr sz="1400" b="0" i="0" dirty="0">
                <a:solidFill>
                  <a:srgbClr val="9C92AC"/>
                </a:solidFill>
                <a:latin typeface="Calibri"/>
              </a:rPr>
              <a:t>  =  _____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950208"/>
            <a:ext cx="5623560" cy="1746504"/>
          </a:xfrm>
          <a:prstGeom prst="rect">
            <a:avLst/>
          </a:prstGeom>
          <a:solidFill>
            <a:srgbClr val="FCE7F3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00800" y="4087368"/>
            <a:ext cx="502920" cy="5029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414223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993363"/>
            <a:ext cx="4709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sz="2200" b="1" i="0" dirty="0">
                <a:solidFill>
                  <a:srgbClr val="1E1B4B"/>
                </a:solidFill>
                <a:latin typeface="Calibri"/>
              </a:rPr>
              <a:t>8x⁴ − x² + 2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4864608"/>
            <a:ext cx="5257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833831"/>
            <a:ext cx="5074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sz="1400" b="0" i="0" dirty="0" err="1">
                <a:solidFill>
                  <a:srgbClr val="9C92AC"/>
                </a:solidFill>
                <a:latin typeface="Calibri"/>
              </a:rPr>
              <a:t>Дәрежесі</a:t>
            </a:r>
            <a:r>
              <a:rPr sz="1400" b="0" i="0" dirty="0">
                <a:solidFill>
                  <a:srgbClr val="9C92AC"/>
                </a:solidFill>
                <a:latin typeface="Calibri"/>
              </a:rPr>
              <a:t>  =  _____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6658" y="5907024"/>
            <a:ext cx="11548872" cy="475488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306658" y="5907024"/>
            <a:ext cx="9144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0394" y="5627574"/>
            <a:ext cx="1129284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200" b="1" i="0" dirty="0">
                <a:solidFill>
                  <a:srgbClr val="6D28D9"/>
                </a:solidFill>
                <a:latin typeface="Calibri"/>
              </a:rPr>
              <a:t>✔  </a:t>
            </a:r>
            <a:r>
              <a:rPr sz="1200" b="1" i="0" dirty="0" err="1">
                <a:solidFill>
                  <a:srgbClr val="6D28D9"/>
                </a:solidFill>
                <a:latin typeface="Calibri"/>
              </a:rPr>
              <a:t>Дескриптор</a:t>
            </a:r>
            <a:r>
              <a:rPr sz="1200" b="1" i="0" dirty="0">
                <a:solidFill>
                  <a:srgbClr val="6D28D9"/>
                </a:solidFill>
                <a:latin typeface="Calibri"/>
              </a:rPr>
              <a:t>:</a:t>
            </a:r>
          </a:p>
          <a:p>
            <a:pPr algn="l">
              <a:spcBef>
                <a:spcPts val="400"/>
              </a:spcBef>
            </a:pPr>
            <a:r>
              <a:rPr sz="1400" b="0" i="0" dirty="0" err="1">
                <a:solidFill>
                  <a:srgbClr val="1E1B4B"/>
                </a:solidFill>
                <a:latin typeface="Calibri"/>
              </a:rPr>
              <a:t>Берілген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көпмүшелердің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дәрежесін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анықтайды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 — 1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ұпай</a:t>
            </a:r>
            <a:endParaRPr sz="1400" b="0" i="0" dirty="0">
              <a:solidFill>
                <a:srgbClr val="1E1B4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42748"/>
            <a:ext cx="12188952" cy="6858000"/>
          </a:xfrm>
          <a:prstGeom prst="rect">
            <a:avLst/>
          </a:prstGeom>
          <a:solidFill>
            <a:srgbClr val="F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1672" y="-2743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48872" y="457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914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ЖҰПТЫҚ ЖҰМЫС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5486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r"/>
            <a:r>
              <a:rPr sz="1200" b="0" i="0">
                <a:solidFill>
                  <a:srgbClr val="FFD180"/>
                </a:solidFill>
                <a:latin typeface="Calibri"/>
              </a:rPr>
              <a:t>10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297676"/>
            <a:ext cx="36576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kk-KZ" dirty="0"/>
          </a:p>
          <a:p>
            <a:pPr algn="l"/>
            <a:r>
              <a:rPr sz="900" b="0" i="0" dirty="0">
                <a:solidFill>
                  <a:srgbClr val="BB9DF0"/>
                </a:solidFill>
                <a:latin typeface="Calibri"/>
              </a:rPr>
              <a:t>  ·  7-сынып  ·  </a:t>
            </a:r>
            <a:r>
              <a:rPr sz="900" b="0" i="0" dirty="0" err="1">
                <a:solidFill>
                  <a:srgbClr val="BB9DF0"/>
                </a:solidFill>
                <a:latin typeface="Calibri"/>
              </a:rPr>
              <a:t>Алгебра</a:t>
            </a:r>
            <a:endParaRPr sz="900" b="0" i="0" dirty="0">
              <a:solidFill>
                <a:srgbClr val="BB9DF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1618488"/>
            <a:ext cx="3200400" cy="457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517904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👫 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Екеу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болып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орындаңыздар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2258568"/>
            <a:ext cx="55778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258568"/>
            <a:ext cx="5577840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225294"/>
            <a:ext cx="5303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sz="1500" b="1" i="0" dirty="0">
                <a:solidFill>
                  <a:srgbClr val="FFFFFF"/>
                </a:solidFill>
                <a:latin typeface="Calibri"/>
              </a:rPr>
              <a:t>1-тапсырма. 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Дәрежені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тап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2898648"/>
            <a:ext cx="52120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300" b="0" i="0">
                <a:solidFill>
                  <a:srgbClr val="6D28D9"/>
                </a:solidFill>
                <a:latin typeface="Calibri"/>
              </a:rPr>
              <a:t>Берілген көпмүшелердің дәрежесін табыңдар: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1E1B4B"/>
                </a:solidFill>
                <a:latin typeface="Calibri"/>
              </a:rPr>
              <a:t>а)  5x³ + 2x² − 7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1E1B4B"/>
                </a:solidFill>
                <a:latin typeface="Calibri"/>
              </a:rPr>
              <a:t>ә)  4a²b³ − 3ab + 6</a:t>
            </a:r>
          </a:p>
          <a:p>
            <a:pPr algn="l">
              <a:spcBef>
                <a:spcPts val="1000"/>
              </a:spcBef>
            </a:pPr>
            <a:r>
              <a:rPr sz="1600" b="0" i="0">
                <a:solidFill>
                  <a:srgbClr val="1E1B4B"/>
                </a:solidFill>
                <a:latin typeface="Calibri"/>
              </a:rPr>
              <a:t>б)  7x⁴ − 2x³ + x − 9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258568"/>
            <a:ext cx="58064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2258568"/>
            <a:ext cx="580644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2212848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l"/>
            <a:r>
              <a:rPr sz="1500" b="1" i="0" dirty="0">
                <a:solidFill>
                  <a:srgbClr val="FFFFFF"/>
                </a:solidFill>
                <a:latin typeface="Calibri"/>
              </a:rPr>
              <a:t>2-тапсырма. 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Стандарт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түрге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келтір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2898648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300" b="0" i="0">
                <a:solidFill>
                  <a:srgbClr val="F97316"/>
                </a:solidFill>
                <a:latin typeface="Calibri"/>
              </a:rPr>
              <a:t>Стандарт түрге келтіріңдер:</a:t>
            </a:r>
          </a:p>
          <a:p>
            <a:pPr algn="l">
              <a:spcBef>
                <a:spcPts val="1200"/>
              </a:spcBef>
            </a:pPr>
            <a:r>
              <a:rPr sz="1600" b="0" i="0">
                <a:solidFill>
                  <a:srgbClr val="1E1B4B"/>
                </a:solidFill>
                <a:latin typeface="Calibri"/>
              </a:rPr>
              <a:t>а)  3x + 5x² − 2 + 4x − x²</a:t>
            </a:r>
          </a:p>
          <a:p>
            <a:pPr algn="l">
              <a:spcBef>
                <a:spcPts val="1200"/>
              </a:spcBef>
            </a:pPr>
            <a:r>
              <a:rPr sz="1600" b="0" i="0">
                <a:solidFill>
                  <a:srgbClr val="1E1B4B"/>
                </a:solidFill>
                <a:latin typeface="Calibri"/>
              </a:rPr>
              <a:t>ә)  7a² − 3a + 2a² + 5a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191" y="5911596"/>
            <a:ext cx="11548872" cy="59436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1191" y="5907024"/>
            <a:ext cx="9144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8200" y="5678424"/>
            <a:ext cx="11292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200" b="1" i="0" dirty="0">
                <a:solidFill>
                  <a:srgbClr val="6D28D9"/>
                </a:solidFill>
                <a:latin typeface="Calibri"/>
              </a:rPr>
              <a:t>✔  </a:t>
            </a:r>
            <a:r>
              <a:rPr sz="1200" b="1" i="0" dirty="0" err="1">
                <a:solidFill>
                  <a:srgbClr val="6D28D9"/>
                </a:solidFill>
                <a:latin typeface="Calibri"/>
              </a:rPr>
              <a:t>Дескриптор</a:t>
            </a:r>
            <a:r>
              <a:rPr sz="1200" b="1" i="0" dirty="0">
                <a:solidFill>
                  <a:srgbClr val="6D28D9"/>
                </a:solidFill>
                <a:latin typeface="Calibri"/>
              </a:rPr>
              <a:t>:</a:t>
            </a:r>
          </a:p>
          <a:p>
            <a:pPr algn="l">
              <a:spcBef>
                <a:spcPts val="400"/>
              </a:spcBef>
            </a:pPr>
            <a:r>
              <a:rPr sz="1400" b="0" i="0" dirty="0" err="1">
                <a:solidFill>
                  <a:srgbClr val="1E1B4B"/>
                </a:solidFill>
                <a:latin typeface="Calibri"/>
              </a:rPr>
              <a:t>Көпмүшенің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дәрежесін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дұрыс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анықтайды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стандарт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түрге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дұрыс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келтіреді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 — 2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ұпай</a:t>
            </a:r>
            <a:endParaRPr sz="1400" b="0" i="0" dirty="0">
              <a:solidFill>
                <a:srgbClr val="1E1B4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1672" y="-2743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48872" y="457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914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ТОПТЫҚ ЖҰМЫС  —  «Көпмүшені құрастыр»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5486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r"/>
            <a:r>
              <a:rPr sz="1200" b="0" i="0">
                <a:solidFill>
                  <a:srgbClr val="FFD180"/>
                </a:solidFill>
                <a:latin typeface="Calibri"/>
              </a:rPr>
              <a:t>11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576" y="6318504"/>
            <a:ext cx="36576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900" b="0" i="0" dirty="0">
                <a:solidFill>
                  <a:srgbClr val="BB9DF0"/>
                </a:solidFill>
                <a:latin typeface="Calibri"/>
              </a:rPr>
              <a:t>  ·  7-сынып  ·  </a:t>
            </a:r>
            <a:r>
              <a:rPr sz="900" b="0" i="0" dirty="0" err="1">
                <a:solidFill>
                  <a:srgbClr val="BB9DF0"/>
                </a:solidFill>
                <a:latin typeface="Calibri"/>
              </a:rPr>
              <a:t>Алгебра</a:t>
            </a:r>
            <a:endParaRPr sz="900" b="0" i="0" dirty="0">
              <a:solidFill>
                <a:srgbClr val="BB9DF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3749039" cy="3982212"/>
          </a:xfrm>
          <a:prstGeom prst="rect">
            <a:avLst/>
          </a:prstGeom>
          <a:solidFill>
            <a:srgbClr val="EEE9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3749039" cy="6858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719072"/>
            <a:ext cx="35661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1-топ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41448"/>
            <a:ext cx="35204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📌  Көпмүшені анықта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35808"/>
            <a:ext cx="3520439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▸  Берілген өрнектерден КӨПМҮШЕЛЕРДІ тап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▸  Олардың ДӘРЕЖЕСІН аны қта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▸  Жұмысыңды тақтада дәлелде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664208"/>
            <a:ext cx="3749039" cy="3982212"/>
          </a:xfrm>
          <a:prstGeom prst="rect">
            <a:avLst/>
          </a:prstGeom>
          <a:solidFill>
            <a:srgbClr val="FFF3E5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79" y="1664208"/>
            <a:ext cx="3749039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19" y="1719072"/>
            <a:ext cx="35661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2-топ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2441448"/>
            <a:ext cx="35204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📌  Стандарт түрге келтір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3035808"/>
            <a:ext cx="3520439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▸  Берілген көпмүшелерді СТАНДАРТ ТҮРГЕ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▸  ҰҚСАС МҮШЕЛЕРДІ біріктіріп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▸  Дәреженің кему ретімен жаз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8" y="1664208"/>
            <a:ext cx="3749039" cy="3982212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18" y="1664208"/>
            <a:ext cx="3749039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58" y="1719072"/>
            <a:ext cx="35661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3-топ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2441448"/>
            <a:ext cx="35204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📌  Ұқсас мүшелерді біріктір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8" y="3035808"/>
            <a:ext cx="3520439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▸  Ұқсас мүшелерді тауып, БІРІКТІР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▸  Стандарт түрін анықта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1E1B4B"/>
                </a:solidFill>
                <a:latin typeface="Calibri"/>
              </a:rPr>
              <a:t>▸  Дәрежесін ата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9913" y="5783580"/>
            <a:ext cx="11548872" cy="621792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5792724"/>
            <a:ext cx="91440" cy="6217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12" y="5560568"/>
            <a:ext cx="112928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200" b="1" i="0" dirty="0">
                <a:solidFill>
                  <a:srgbClr val="6D28D9"/>
                </a:solidFill>
                <a:latin typeface="Calibri"/>
              </a:rPr>
              <a:t>✔  </a:t>
            </a:r>
            <a:r>
              <a:rPr sz="1200" b="1" i="0" dirty="0" err="1">
                <a:solidFill>
                  <a:srgbClr val="6D28D9"/>
                </a:solidFill>
                <a:latin typeface="Calibri"/>
              </a:rPr>
              <a:t>Дескриптор</a:t>
            </a:r>
            <a:r>
              <a:rPr sz="1200" b="1" i="0" dirty="0">
                <a:solidFill>
                  <a:srgbClr val="6D28D9"/>
                </a:solidFill>
                <a:latin typeface="Calibri"/>
              </a:rPr>
              <a:t>:</a:t>
            </a:r>
          </a:p>
          <a:p>
            <a:pPr algn="l">
              <a:spcBef>
                <a:spcPts val="400"/>
              </a:spcBef>
            </a:pPr>
            <a:r>
              <a:rPr sz="1400" b="0" i="0" dirty="0" err="1">
                <a:solidFill>
                  <a:srgbClr val="1E1B4B"/>
                </a:solidFill>
                <a:latin typeface="Calibri"/>
              </a:rPr>
              <a:t>Көпмүшенің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дәрежесін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дұрыс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анықтайды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стандарт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түрге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дұрыс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келтіреді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 — 2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ұпай</a:t>
            </a:r>
            <a:endParaRPr sz="1400" b="0" i="0" dirty="0">
              <a:solidFill>
                <a:srgbClr val="1E1B4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1672" y="-2743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48872" y="457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914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«ОЙЛАН  —  ТАП»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74041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200" b="0" i="0" dirty="0" err="1">
                <a:solidFill>
                  <a:srgbClr val="D4A0FF"/>
                </a:solidFill>
                <a:latin typeface="Calibri"/>
              </a:rPr>
              <a:t>Жеке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4A0FF"/>
                </a:solidFill>
                <a:latin typeface="Calibri"/>
              </a:rPr>
              <a:t>ойлан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D4A0FF"/>
                </a:solidFill>
                <a:latin typeface="Calibri"/>
              </a:rPr>
              <a:t>жауабын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4A0FF"/>
                </a:solidFill>
                <a:latin typeface="Calibri"/>
              </a:rPr>
              <a:t>тап</a:t>
            </a:r>
            <a:r>
              <a:rPr sz="1200" b="0" i="0" dirty="0">
                <a:solidFill>
                  <a:srgbClr val="D4A0FF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3112" y="54864"/>
            <a:ext cx="914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r"/>
            <a:r>
              <a:rPr sz="1200" b="0" i="0">
                <a:solidFill>
                  <a:srgbClr val="FFD180"/>
                </a:solidFill>
                <a:latin typeface="Calibri"/>
              </a:rPr>
              <a:t>12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314186"/>
            <a:ext cx="36576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900" b="0" i="0" dirty="0">
                <a:solidFill>
                  <a:srgbClr val="BB9DF0"/>
                </a:solidFill>
                <a:latin typeface="Calibri"/>
              </a:rPr>
              <a:t>  ·  7-сынып  ·  </a:t>
            </a:r>
            <a:r>
              <a:rPr sz="900" b="0" i="0" dirty="0" err="1">
                <a:solidFill>
                  <a:srgbClr val="BB9DF0"/>
                </a:solidFill>
                <a:latin typeface="Calibri"/>
              </a:rPr>
              <a:t>Алгебра</a:t>
            </a:r>
            <a:endParaRPr sz="900" b="0" i="0" dirty="0">
              <a:solidFill>
                <a:srgbClr val="BB9DF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2784348" cy="4206240"/>
          </a:xfrm>
          <a:prstGeom prst="rect">
            <a:avLst/>
          </a:prstGeom>
          <a:solidFill>
            <a:srgbClr val="EEE9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664208"/>
            <a:ext cx="2784348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1719072"/>
            <a:ext cx="26014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304288"/>
            <a:ext cx="260146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500" b="1" i="0">
                <a:solidFill>
                  <a:srgbClr val="1E1B4B"/>
                </a:solidFill>
                <a:latin typeface="Calibri"/>
              </a:rPr>
              <a:t>6x³ + 2x² − 5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218688"/>
            <a:ext cx="26014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200" b="0" i="0">
                <a:solidFill>
                  <a:srgbClr val="6D28D9"/>
                </a:solidFill>
                <a:latin typeface="Calibri"/>
              </a:rPr>
              <a:t>Дәрежесін тап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58768"/>
            <a:ext cx="25100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950208"/>
            <a:ext cx="24185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200" b="0" i="0">
                <a:solidFill>
                  <a:srgbClr val="9C92AC"/>
                </a:solidFill>
                <a:latin typeface="Calibri"/>
              </a:rPr>
              <a:t>Жауабы: 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1548" y="1664208"/>
            <a:ext cx="2784348" cy="4206240"/>
          </a:xfrm>
          <a:prstGeom prst="rect">
            <a:avLst/>
          </a:prstGeom>
          <a:solidFill>
            <a:srgbClr val="FFF3E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41548" y="1664208"/>
            <a:ext cx="2784348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2988" y="1719072"/>
            <a:ext cx="26014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2988" y="2304288"/>
            <a:ext cx="260146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500" b="1" i="0">
                <a:solidFill>
                  <a:srgbClr val="1E1B4B"/>
                </a:solidFill>
                <a:latin typeface="Calibri"/>
              </a:rPr>
              <a:t>4a⁴ − 3a² + a − 7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2988" y="3218688"/>
            <a:ext cx="26014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200" b="0" i="0">
                <a:solidFill>
                  <a:srgbClr val="F97316"/>
                </a:solidFill>
                <a:latin typeface="Calibri"/>
              </a:rPr>
              <a:t>Дәрежесін тап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78708" y="3858768"/>
            <a:ext cx="25100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24428" y="3950208"/>
            <a:ext cx="24185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200" b="0" i="0">
                <a:solidFill>
                  <a:srgbClr val="9C92AC"/>
                </a:solidFill>
                <a:latin typeface="Calibri"/>
              </a:rPr>
              <a:t>Жауабы: _____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1664208"/>
            <a:ext cx="2784348" cy="420624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63056" y="1664208"/>
            <a:ext cx="2784348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54496" y="1719072"/>
            <a:ext cx="26014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2304288"/>
            <a:ext cx="260146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500" b="1" i="0">
                <a:solidFill>
                  <a:srgbClr val="1E1B4B"/>
                </a:solidFill>
                <a:latin typeface="Calibri"/>
              </a:rPr>
              <a:t>2x² + 5x − 3x² + 4x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3218688"/>
            <a:ext cx="26014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Стандарт түрге келтір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0216" y="3858768"/>
            <a:ext cx="25100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45936" y="3950208"/>
            <a:ext cx="24185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200" b="0" i="0">
                <a:solidFill>
                  <a:srgbClr val="9C92AC"/>
                </a:solidFill>
                <a:latin typeface="Calibri"/>
              </a:rPr>
              <a:t>Жауабы: _____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84564" y="1664208"/>
            <a:ext cx="2784348" cy="4206240"/>
          </a:xfrm>
          <a:prstGeom prst="rect">
            <a:avLst/>
          </a:prstGeom>
          <a:solidFill>
            <a:srgbClr val="FCE7F3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84564" y="1664208"/>
            <a:ext cx="2784348" cy="502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76004" y="1719072"/>
            <a:ext cx="26014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6004" y="2304288"/>
            <a:ext cx="260146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500" b="1" i="0">
                <a:solidFill>
                  <a:srgbClr val="1E1B4B"/>
                </a:solidFill>
                <a:latin typeface="Calibri"/>
              </a:rPr>
              <a:t>7a³ − 2a + 5a³ + 4a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6004" y="3218688"/>
            <a:ext cx="26014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200" b="0" i="0">
                <a:solidFill>
                  <a:srgbClr val="EC4899"/>
                </a:solidFill>
                <a:latin typeface="Calibri"/>
              </a:rPr>
              <a:t>Стандарт түрге келтір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21724" y="3858768"/>
            <a:ext cx="251002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67444" y="3950208"/>
            <a:ext cx="24185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200" b="0" i="0">
                <a:solidFill>
                  <a:srgbClr val="9C92AC"/>
                </a:solidFill>
                <a:latin typeface="Calibri"/>
              </a:rPr>
              <a:t>Жауабы: _____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9913" y="5964428"/>
            <a:ext cx="11548872" cy="566928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19913" y="5964428"/>
            <a:ext cx="91440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4632" y="5701284"/>
            <a:ext cx="112928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r>
              <a:rPr sz="1200" b="1" i="0" dirty="0">
                <a:solidFill>
                  <a:srgbClr val="6D28D9"/>
                </a:solidFill>
                <a:latin typeface="Calibri"/>
              </a:rPr>
              <a:t>✔  </a:t>
            </a:r>
            <a:r>
              <a:rPr sz="1200" b="1" i="0" dirty="0" err="1">
                <a:solidFill>
                  <a:srgbClr val="6D28D9"/>
                </a:solidFill>
                <a:latin typeface="Calibri"/>
              </a:rPr>
              <a:t>Дескриптор</a:t>
            </a:r>
            <a:r>
              <a:rPr sz="1200" b="1" i="0" dirty="0">
                <a:solidFill>
                  <a:srgbClr val="6D28D9"/>
                </a:solidFill>
                <a:latin typeface="Calibri"/>
              </a:rPr>
              <a:t>:</a:t>
            </a:r>
          </a:p>
          <a:p>
            <a:pPr algn="l">
              <a:spcBef>
                <a:spcPts val="400"/>
              </a:spcBef>
            </a:pPr>
            <a:r>
              <a:rPr sz="1400" b="0" i="0" dirty="0" err="1">
                <a:solidFill>
                  <a:srgbClr val="1E1B4B"/>
                </a:solidFill>
                <a:latin typeface="Calibri"/>
              </a:rPr>
              <a:t>Көпмүшенің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дәрежесін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дұрыс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анықтайды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стандарт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түрге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дұрыс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келтіреді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  — 2 </a:t>
            </a:r>
            <a:r>
              <a:rPr sz="1400" b="0" i="0" dirty="0" err="1">
                <a:solidFill>
                  <a:srgbClr val="1E1B4B"/>
                </a:solidFill>
                <a:latin typeface="Calibri"/>
              </a:rPr>
              <a:t>ұпай</a:t>
            </a:r>
            <a:endParaRPr sz="1400" b="0" i="0" dirty="0">
              <a:solidFill>
                <a:srgbClr val="1E1B4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0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88552" y="-457200"/>
            <a:ext cx="3200400" cy="32004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029200"/>
            <a:ext cx="2286000" cy="22860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САБАҚТЫ ҚОРЫТЫНДЫЛАУ  ·  «Бір сөйлеммен айт»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685800"/>
            <a:ext cx="117317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822960"/>
            <a:ext cx="365760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33832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«Көпмүше дегеніміз — ...»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822960"/>
            <a:ext cx="365760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868680"/>
            <a:ext cx="33832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«Көпмүшенің дәрежесі — ...»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822960"/>
            <a:ext cx="365760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868680"/>
            <a:ext cx="33832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«Стандарт түрге келтіру үшін — ...»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20240"/>
            <a:ext cx="45720" cy="1371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938528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РЕФЛЕКСИЯ  ·  «3 — 2 — 1»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3657600" cy="1188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542032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633472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Бүгін білгенім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2468880"/>
            <a:ext cx="3657600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2542032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633472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Маңызды болғаны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80" y="2468880"/>
            <a:ext cx="365760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2542032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633472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Әлі білгім келетіні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40480"/>
            <a:ext cx="4572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85876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ҮЙ ТАПСЫРМАСЫ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89120"/>
            <a:ext cx="7315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dirty="0"/>
          </a:p>
          <a:p>
            <a:pPr algn="l"/>
            <a:endParaRPr sz="1400" b="0" i="1" dirty="0">
              <a:solidFill>
                <a:srgbClr val="C4B5FD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046720" y="3474720"/>
            <a:ext cx="3840480" cy="2560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79" y="3657600"/>
            <a:ext cx="34747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Жарайсыңдар! 🎉</a:t>
            </a:r>
          </a:p>
          <a:p>
            <a:pPr algn="ctr">
              <a:spcBef>
                <a:spcPts val="1000"/>
              </a:spcBef>
            </a:pPr>
            <a:r>
              <a:rPr sz="1300" b="0" i="0">
                <a:solidFill>
                  <a:srgbClr val="E9D5FF"/>
                </a:solidFill>
                <a:latin typeface="Calibri"/>
              </a:rPr>
              <a:t>Бүгін көп нәрсе үйрендіңіздер!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1072</Words>
  <Application>Microsoft Macintosh PowerPoint</Application>
  <PresentationFormat>Произвольный</PresentationFormat>
  <Paragraphs>364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Маржан Утжанова</cp:lastModifiedBy>
  <cp:revision>3</cp:revision>
  <dcterms:created xsi:type="dcterms:W3CDTF">2013-01-27T09:14:16Z</dcterms:created>
  <dcterms:modified xsi:type="dcterms:W3CDTF">2026-10-07T16:07:20Z</dcterms:modified>
  <cp:category/>
</cp:coreProperties>
</file>