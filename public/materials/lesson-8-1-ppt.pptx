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 snapToObjects="1">
      <p:cViewPr>
        <p:scale>
          <a:sx n="104" d="100"/>
          <a:sy n="104" d="100"/>
        </p:scale>
        <p:origin x="888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0" y="1371600"/>
            <a:ext cx="5486400" cy="5486400"/>
          </a:xfrm>
          <a:prstGeom prst="ellipse">
            <a:avLst/>
          </a:prstGeom>
          <a:solidFill>
            <a:srgbClr val="0D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8 СЫНЫП  ·  МАТЕМАТИКА  ·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80160"/>
            <a:ext cx="10058400" cy="1828800"/>
          </a:xfrm>
          <a:prstGeom prst="roundRect">
            <a:avLst>
              <a:gd name="adj" fmla="val 5000"/>
            </a:avLst>
          </a:prstGeom>
          <a:solidFill>
            <a:srgbClr val="0E1628"/>
          </a:solidFill>
          <a:ln w="9525"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371600"/>
            <a:ext cx="9875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E8F0"/>
                </a:solidFill>
                <a:latin typeface="Segoe UI"/>
              </a:rPr>
              <a:t>Құрамында квадрат түбірлері бар
өрнектерді тепе-тең түрлендіру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246120"/>
            <a:ext cx="3959352" cy="54864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01568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Segoe UI"/>
              </a:rPr>
              <a:t>Бөлшек бөлімін иррационалдықтан арылту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0233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40599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B3ED"/>
                </a:solidFill>
                <a:latin typeface="Segoe UI"/>
              </a:rPr>
              <a:t>📚  Оқу мақсаты: 8.1.2.4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0233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A1E04"/>
          </a:solidFill>
          <a:ln w="9525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40599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B429"/>
                </a:solidFill>
                <a:latin typeface="Segoe UI"/>
              </a:rPr>
              <a:t>⏱  45 минут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0233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A0F3A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40599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🎯  5 тапсырма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САБАҚТЫҢ МАҚСАТЫ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2E8F0"/>
                </a:solidFill>
                <a:latin typeface="Segoe UI"/>
              </a:rPr>
              <a:t>Оқушылар сабақтың соңында біледі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572768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73152" cy="4937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0352" y="1783080"/>
            <a:ext cx="11155680" cy="493776"/>
          </a:xfrm>
          <a:prstGeom prst="rect">
            <a:avLst/>
          </a:prstGeom>
          <a:solidFill>
            <a:srgbClr val="12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83794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5623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Құрамында квадрат түбірлері бар өрнектерді түрлендіру ережелерін білу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0008"/>
            <a:ext cx="73152" cy="4937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" y="2350008"/>
            <a:ext cx="11155680" cy="493776"/>
          </a:xfrm>
          <a:prstGeom prst="rect">
            <a:avLst/>
          </a:prstGeom>
          <a:solidFill>
            <a:srgbClr val="12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4048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42316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Бөлшек бөліміндегі иррационалдықтан арылту тәсілін түсіну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16936"/>
            <a:ext cx="73152" cy="4937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0352" y="2916936"/>
            <a:ext cx="11155680" cy="493776"/>
          </a:xfrm>
          <a:prstGeom prst="rect">
            <a:avLst/>
          </a:prstGeom>
          <a:solidFill>
            <a:srgbClr val="12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97180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99008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Бөлшек бөлімін иррационалдықтан арылту үшін түйіндес өрнектерді дұрыс қолдану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83863"/>
            <a:ext cx="73152" cy="4937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0352" y="3483863"/>
            <a:ext cx="11155680" cy="493776"/>
          </a:xfrm>
          <a:prstGeom prst="rect">
            <a:avLst/>
          </a:prstGeom>
          <a:solidFill>
            <a:srgbClr val="12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538727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✂️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557015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Құрамында квадрат түбірлері бар бөлшектерді ықшамдау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50791"/>
            <a:ext cx="73152" cy="493776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0352" y="4050791"/>
            <a:ext cx="11155680" cy="493776"/>
          </a:xfrm>
          <a:prstGeom prst="rect">
            <a:avLst/>
          </a:prstGeom>
          <a:solidFill>
            <a:srgbClr val="12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105655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123943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Алған білімдерін есептер шығаруда қолдану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6419088"/>
            <a:ext cx="4114800" cy="329184"/>
          </a:xfrm>
          <a:prstGeom prst="roundRect">
            <a:avLst>
              <a:gd name="adj" fmla="val 5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23360" y="6446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B3ED"/>
                </a:solidFill>
                <a:latin typeface="Segoe UI"/>
              </a:rPr>
              <a:t>Оқу бағдарламасы: 8.1.2.4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ҚЫЗЫҚТЫРУ КЕЗЕҢІ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6400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E2E8F0"/>
                </a:solidFill>
                <a:latin typeface="Segoe U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«Миға шабуыл» — Өткен тақырыпты қайталау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2286000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28800" y="2514600"/>
            <a:ext cx="8531352" cy="2286000"/>
          </a:xfrm>
          <a:prstGeom prst="roundRect">
            <a:avLst>
              <a:gd name="adj" fmla="val 5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596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  <a:latin typeface="Segoe UI"/>
              </a:rPr>
              <a:t>Алдыңғы тақырыпты қайталайтын интерактивті викторина!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246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Wordwall сілтемесі: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611880"/>
            <a:ext cx="7068312" cy="411480"/>
          </a:xfrm>
          <a:prstGeom prst="roundRect">
            <a:avLst>
              <a:gd name="adj" fmla="val 5000"/>
            </a:avLst>
          </a:prstGeom>
          <a:solidFill>
            <a:srgbClr val="071428"/>
          </a:solidFill>
          <a:ln w="9525">
            <a:solidFill>
              <a:srgbClr val="1E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0" y="3639312"/>
            <a:ext cx="7068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B3ED"/>
                </a:solidFill>
                <a:latin typeface="Consolas"/>
              </a:rPr>
              <a:t>🔗   wordwall.net/it/resource/60686896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120640"/>
            <a:ext cx="7616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📱 Телефоннан немесе компьютерден кіруге болады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ЖАҢА ТАҚЫРЫП — ТЕОРИЯ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Иррационалдық бар бөлшек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554480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74552" cy="1298448"/>
          </a:xfrm>
          <a:prstGeom prst="roundRect">
            <a:avLst>
              <a:gd name="adj" fmla="val 5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91440" cy="129844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B3ED"/>
                </a:solidFill>
                <a:latin typeface="Segoe UI"/>
              </a:rPr>
              <a:t>Анықтама: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Бөлшектің бөлімінде немесе алымында арифметикалық квадрат түбір таңбасы бар болса, ол бөлшекте иррационалдық бар деп айтылады.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63824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Мысалдар — бөлімінде иррационалдық бар бөлшектер: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520440"/>
            <a:ext cx="2926080" cy="1417320"/>
          </a:xfrm>
          <a:prstGeom prst="roundRect">
            <a:avLst>
              <a:gd name="adj" fmla="val 5000"/>
            </a:avLst>
          </a:prstGeom>
          <a:solidFill>
            <a:srgbClr val="2A1E04"/>
          </a:solidFill>
          <a:ln w="9525">
            <a:solidFill>
              <a:srgbClr val="604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3566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mbria Math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2477" y="3977640"/>
            <a:ext cx="583781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0416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mbria Math"/>
              </a:rPr>
              <a:t>√2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520440"/>
            <a:ext cx="2926080" cy="1417320"/>
          </a:xfrm>
          <a:prstGeom prst="roundRect">
            <a:avLst>
              <a:gd name="adj" fmla="val 5000"/>
            </a:avLst>
          </a:prstGeom>
          <a:solidFill>
            <a:srgbClr val="2A1E04"/>
          </a:solidFill>
          <a:ln w="9525">
            <a:solidFill>
              <a:srgbClr val="604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3566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mbria Math"/>
              </a:rPr>
              <a:t>−7a</a:t>
            </a:r>
          </a:p>
        </p:txBody>
      </p:sp>
      <p:sp>
        <p:nvSpPr>
          <p:cNvPr id="21" name="Rectangle 20"/>
          <p:cNvSpPr/>
          <p:nvPr/>
        </p:nvSpPr>
        <p:spPr>
          <a:xfrm flipV="1">
            <a:off x="5669280" y="4023357"/>
            <a:ext cx="1065152" cy="45719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40416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mbria Math"/>
              </a:rPr>
              <a:t>7−√ab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520440"/>
            <a:ext cx="2926080" cy="1417320"/>
          </a:xfrm>
          <a:prstGeom prst="roundRect">
            <a:avLst>
              <a:gd name="adj" fmla="val 5000"/>
            </a:avLst>
          </a:prstGeom>
          <a:solidFill>
            <a:srgbClr val="2A1E04"/>
          </a:solidFill>
          <a:ln w="9525">
            <a:solidFill>
              <a:srgbClr val="604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3566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mbria Math"/>
              </a:rPr>
              <a:t>6a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20431" y="3977641"/>
            <a:ext cx="951471" cy="64007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0" y="40416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mbria Math"/>
              </a:rPr>
              <a:t>7√bc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ЖАҢА ТАҚЫРЫП — ТЕОРИЯ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Иррационалдықтан арылту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554480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91440" cy="1188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B3ED"/>
                </a:solidFill>
                <a:latin typeface="Segoe UI"/>
              </a:rPr>
              <a:t>Анықтама: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Бөлшектің бөліміндегі иррационалдықтан арылту деп — бөлімінде арифметикалық квадрат түбір таңбасы болмайтын бөлшекке келтіруді айтады.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11274552" cy="22860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3182112"/>
            <a:ext cx="329184" cy="329184"/>
          </a:xfrm>
          <a:prstGeom prst="roundRect">
            <a:avLst>
              <a:gd name="adj" fmla="val 5000"/>
            </a:avLst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821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051560" y="3163824"/>
                <a:ext cx="10515600" cy="364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200" b="0" i="0" dirty="0" err="1">
                    <a:solidFill>
                      <a:srgbClr val="E2E8F0"/>
                    </a:solidFill>
                    <a:latin typeface="Cambria Math"/>
                  </a:rPr>
                  <a:t>Бастапқы</a:t>
                </a:r>
                <a:r>
                  <a:rPr sz="1200" b="0" i="0" dirty="0">
                    <a:solidFill>
                      <a:srgbClr val="E2E8F0"/>
                    </a:solidFill>
                    <a:latin typeface="Cambria Math"/>
                  </a:rPr>
                  <a:t> </a:t>
                </a:r>
                <a:r>
                  <a:rPr sz="1200" b="0" i="0" dirty="0" err="1">
                    <a:solidFill>
                      <a:srgbClr val="E2E8F0"/>
                    </a:solidFill>
                    <a:latin typeface="Cambria Math"/>
                  </a:rPr>
                  <a:t>бөлшек</a:t>
                </a:r>
                <a:r>
                  <a:rPr sz="1200" b="0" i="0" dirty="0">
                    <a:solidFill>
                      <a:srgbClr val="E2E8F0"/>
                    </a:solidFill>
                    <a:latin typeface="Cambria Math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12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3163824"/>
                <a:ext cx="10515600" cy="364715"/>
              </a:xfrm>
              <a:prstGeom prst="rect">
                <a:avLst/>
              </a:prstGeom>
              <a:blipFill>
                <a:blip r:embed="rId2"/>
                <a:stretch>
                  <a:fillRect l="-12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/>
          <p:cNvSpPr/>
          <p:nvPr/>
        </p:nvSpPr>
        <p:spPr>
          <a:xfrm>
            <a:off x="594360" y="3694176"/>
            <a:ext cx="329184" cy="329184"/>
          </a:xfrm>
          <a:prstGeom prst="roundRect">
            <a:avLst>
              <a:gd name="adj" fmla="val 5000"/>
            </a:avLst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6941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1051560" y="3675888"/>
                <a:ext cx="10515600" cy="411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Алымы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мен</a:t>
                </a:r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бөлімін</a:t>
                </a:r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 √2·ге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көбейтеміз</a:t>
                </a:r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200" b="0" i="1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ad>
                          <m:radPr>
                            <m:degHide m:val="on"/>
                            <m:ctrlPr>
                              <a:rPr lang="en-US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sz="120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12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3675888"/>
                <a:ext cx="10515600" cy="411459"/>
              </a:xfrm>
              <a:prstGeom prst="rect">
                <a:avLst/>
              </a:prstGeom>
              <a:blipFill>
                <a:blip r:embed="rId3"/>
                <a:stretch>
                  <a:fillRect l="-121" b="-3030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/>
          <p:cNvSpPr/>
          <p:nvPr/>
        </p:nvSpPr>
        <p:spPr>
          <a:xfrm>
            <a:off x="594360" y="4206240"/>
            <a:ext cx="329184" cy="329184"/>
          </a:xfrm>
          <a:prstGeom prst="roundRect">
            <a:avLst>
              <a:gd name="adj" fmla="val 5000"/>
            </a:avLst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2062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1051560" y="4187952"/>
                <a:ext cx="10515600" cy="450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(√2)² = 2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болады</a:t>
                </a:r>
                <a:r>
                  <a:rPr lang="kk-KZ" sz="1200" dirty="0">
                    <a:solidFill>
                      <a:srgbClr val="E2E8F0"/>
                    </a:solidFill>
                    <a:latin typeface="Cambria Math"/>
                  </a:rPr>
                  <a:t>, сонда:</a:t>
                </a:r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b="0" i="1" smtClean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ar-AE" sz="1200" i="1">
                                        <a:solidFill>
                                          <a:srgbClr val="E2E8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200" i="1">
                                        <a:solidFill>
                                          <a:srgbClr val="E2E8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US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200" b="0" i="1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12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4187952"/>
                <a:ext cx="10515600" cy="450829"/>
              </a:xfrm>
              <a:prstGeom prst="rect">
                <a:avLst/>
              </a:prstGeom>
              <a:blipFill>
                <a:blip r:embed="rId4"/>
                <a:stretch>
                  <a:fillRect l="-12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475488" y="4626864"/>
            <a:ext cx="11219688" cy="475488"/>
          </a:xfrm>
          <a:prstGeom prst="rect">
            <a:avLst/>
          </a:prstGeom>
          <a:solidFill>
            <a:srgbClr val="0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" y="4718304"/>
            <a:ext cx="329184" cy="329184"/>
          </a:xfrm>
          <a:prstGeom prst="roundRect">
            <a:avLst>
              <a:gd name="adj" fmla="val 5000"/>
            </a:avLst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71830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1051560" y="4700016"/>
                <a:ext cx="10515600" cy="3866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200" b="1" i="0" dirty="0" err="1">
                    <a:solidFill>
                      <a:srgbClr val="68D391"/>
                    </a:solidFill>
                    <a:latin typeface="Cambria Math"/>
                  </a:rPr>
                  <a:t>Нәтиже</a:t>
                </a:r>
                <a:r>
                  <a:rPr sz="1200" b="1" i="0" dirty="0">
                    <a:solidFill>
                      <a:srgbClr val="68D391"/>
                    </a:solidFill>
                    <a:latin typeface="Cambria Math"/>
                  </a:rPr>
                  <a:t>:</a:t>
                </a:r>
                <a:r>
                  <a:rPr lang="ar-AE" sz="1200" dirty="0">
                    <a:solidFill>
                      <a:srgbClr val="E2E8F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200" dirty="0">
                    <a:solidFill>
                      <a:srgbClr val="E2E8F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sz="1200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1200" b="1" i="0" dirty="0">
                    <a:solidFill>
                      <a:srgbClr val="68D391"/>
                    </a:solidFill>
                    <a:latin typeface="Cambria Math"/>
                  </a:rPr>
                  <a:t>— </a:t>
                </a:r>
                <a:r>
                  <a:rPr sz="1200" b="1" i="0" dirty="0" err="1">
                    <a:solidFill>
                      <a:srgbClr val="68D391"/>
                    </a:solidFill>
                    <a:latin typeface="Cambria Math"/>
                  </a:rPr>
                  <a:t>бөлімде</a:t>
                </a:r>
                <a:r>
                  <a:rPr sz="1200" b="1" i="0" dirty="0">
                    <a:solidFill>
                      <a:srgbClr val="68D391"/>
                    </a:solidFill>
                    <a:latin typeface="Cambria Math"/>
                  </a:rPr>
                  <a:t> </a:t>
                </a:r>
                <a:r>
                  <a:rPr sz="1200" b="1" i="0" dirty="0" err="1">
                    <a:solidFill>
                      <a:srgbClr val="68D391"/>
                    </a:solidFill>
                    <a:latin typeface="Cambria Math"/>
                  </a:rPr>
                  <a:t>иррационалдық</a:t>
                </a:r>
                <a:r>
                  <a:rPr sz="1200" b="1" i="0" dirty="0">
                    <a:solidFill>
                      <a:srgbClr val="68D391"/>
                    </a:solidFill>
                    <a:latin typeface="Cambria Math"/>
                  </a:rPr>
                  <a:t> </a:t>
                </a:r>
                <a:r>
                  <a:rPr sz="1200" b="1" i="0" dirty="0" err="1">
                    <a:solidFill>
                      <a:srgbClr val="68D391"/>
                    </a:solidFill>
                    <a:latin typeface="Cambria Math"/>
                  </a:rPr>
                  <a:t>жоқ</a:t>
                </a:r>
                <a:r>
                  <a:rPr sz="1200" b="1" i="0" dirty="0">
                    <a:solidFill>
                      <a:srgbClr val="68D391"/>
                    </a:solidFill>
                    <a:latin typeface="Cambria Math"/>
                  </a:rPr>
                  <a:t>!</a:t>
                </a: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4700016"/>
                <a:ext cx="10515600" cy="386644"/>
              </a:xfrm>
              <a:prstGeom prst="rect">
                <a:avLst/>
              </a:prstGeom>
              <a:blipFill>
                <a:blip r:embed="rId5"/>
                <a:stretch>
                  <a:fillRect l="-12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ЖАҢА ТАҚЫРЫП — ТЕОРИЯ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Түйіндес өрнектер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554480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91440" cy="1188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7556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B3ED"/>
                </a:solidFill>
                <a:latin typeface="Segoe UI"/>
              </a:rPr>
              <a:t>Ереже: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mbria Math"/>
              </a:rPr>
              <a:t>Кейде бөлімді иррационалдықтан арылту үшін түйіндес өрнек қолданылады.
(√a + √b)  және  (√a − √b)  —  түйіндес өрнектер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27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B3ED"/>
                </a:solidFill>
                <a:latin typeface="Segoe UI"/>
              </a:rPr>
              <a:t>Формула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204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0B429"/>
                </a:solidFill>
                <a:latin typeface="Cambria Math"/>
              </a:rPr>
              <a:t>(√a + √b)(√a − √b) = a −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Квадраттар айырымы формуласы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E2E8F0"/>
                </a:solidFill>
                <a:latin typeface="Cambria Math"/>
              </a:rPr>
              <a:t>(√3 + √5)(√3 − √5) = 3 − 5 = −2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63240"/>
            <a:ext cx="5422392" cy="22860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127248"/>
            <a:ext cx="5422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  <a:latin typeface="Segoe UI"/>
              </a:rPr>
              <a:t>Неге пайдалы?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Segoe UI"/>
              </a:rPr>
              <a:t>Түйіндес өрнекке көбейткенде бөлімдегі квадрат түбір жойылады — нәтижесінде рационал сан шығады.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26280"/>
            <a:ext cx="5422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FD1C5"/>
                </a:solidFill>
                <a:latin typeface="Cambria Math"/>
              </a:rPr>
              <a:t>(√a + √b) −&gt; (√a − √b)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ЖАҢА ТАҚЫРЫП — ТОЛЫҚ МЫСАЛ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Түйіндес өрнекті қолдану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554480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74552" cy="4133087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" y="1911096"/>
            <a:ext cx="347472" cy="347472"/>
          </a:xfrm>
          <a:prstGeom prst="roundRect">
            <a:avLst>
              <a:gd name="adj" fmla="val 5000"/>
            </a:avLst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9110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097280" y="1892808"/>
                <a:ext cx="10424160" cy="413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300" b="0" i="0" dirty="0">
                    <a:solidFill>
                      <a:srgbClr val="E2E8F0"/>
                    </a:solidFill>
                    <a:latin typeface="Cambria Math"/>
                  </a:rPr>
                  <a:t>Бастапқы </a:t>
                </a:r>
                <a:r>
                  <a:rPr lang="ru-RU" sz="1300" b="0" i="0" dirty="0" err="1">
                    <a:solidFill>
                      <a:srgbClr val="E2E8F0"/>
                    </a:solidFill>
                    <a:latin typeface="Cambria Math"/>
                  </a:rPr>
                  <a:t>бөлшек</a:t>
                </a:r>
                <a:r>
                  <a:rPr lang="ru-RU" sz="1300" b="0" i="0" dirty="0">
                    <a:solidFill>
                      <a:srgbClr val="E2E8F0"/>
                    </a:solidFill>
                    <a:latin typeface="Cambria Math"/>
                  </a:rPr>
                  <a:t>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300" b="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d>
                          <m:dPr>
                            <m:ctrlPr>
                              <a:rPr lang="ru-RU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ru-RU" sz="1300" i="1" dirty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 sz="1300" i="1" dirty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rad>
                            <m:r>
                              <a:rPr lang="ru-RU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ad>
                              <m:radPr>
                                <m:degHide m:val="on"/>
                                <m:ctrlPr>
                                  <a:rPr lang="ru-RU" sz="1300" i="1" dirty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 sz="1300" i="1" dirty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e>
                        </m:d>
                      </m:den>
                    </m:f>
                  </m:oMath>
                </a14:m>
                <a:endParaRPr sz="13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892808"/>
                <a:ext cx="10424160" cy="413318"/>
              </a:xfrm>
              <a:prstGeom prst="rect">
                <a:avLst/>
              </a:prstGeom>
              <a:blipFill>
                <a:blip r:embed="rId2"/>
                <a:stretch>
                  <a:fillRect l="-122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21792" y="2660904"/>
            <a:ext cx="347472" cy="347472"/>
          </a:xfrm>
          <a:prstGeom prst="roundRect">
            <a:avLst>
              <a:gd name="adj" fmla="val 5000"/>
            </a:avLst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660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4261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mbria Math"/>
              </a:rPr>
              <a:t>Түйіндес өрнек (√11 + √7)·ке көбейтеміз: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410712"/>
            <a:ext cx="347472" cy="347472"/>
          </a:xfrm>
          <a:prstGeom prst="roundRect">
            <a:avLst>
              <a:gd name="adj" fmla="val 5000"/>
            </a:avLst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4107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097280" y="3392424"/>
                <a:ext cx="10424160" cy="60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ar-AE" sz="1300" b="0" i="0" dirty="0">
                    <a:solidFill>
                      <a:srgbClr val="E2E8F0"/>
                    </a:solidFill>
                    <a:latin typeface="Cambria Math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130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ar-AE" sz="13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ar-AE" sz="1300" b="0" i="1" dirty="0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300" b="0" i="1" dirty="0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a:rPr lang="en-US" sz="13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1300" b="0" i="1" dirty="0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300" b="0" i="1" dirty="0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a:rPr lang="en-US" sz="13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en-US" sz="1300" b="0" i="1" dirty="0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300" b="0" i="1" dirty="0" smtClean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300" b="0" i="1" dirty="0" smtClean="0">
                                        <a:solidFill>
                                          <a:srgbClr val="E2E8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300" b="0" i="1" dirty="0" smtClean="0">
                                            <a:solidFill>
                                              <a:srgbClr val="E2E8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300" b="0" i="1" dirty="0" smtClean="0">
                                            <a:solidFill>
                                              <a:srgbClr val="E2E8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sz="1300" b="0" i="1" dirty="0" smtClean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300" b="0" i="1" dirty="0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300" b="0" i="1" dirty="0" smtClean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300" b="0" i="1" dirty="0" smtClean="0">
                                        <a:solidFill>
                                          <a:srgbClr val="E2E8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300" b="0" i="1" dirty="0" smtClean="0">
                                            <a:solidFill>
                                              <a:srgbClr val="E2E8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300" b="0" i="1" dirty="0" smtClean="0">
                                            <a:solidFill>
                                              <a:srgbClr val="E2E8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sz="1300" b="0" i="1" dirty="0" smtClean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en-US" sz="1300" b="0" i="0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∙(</m:t>
                        </m:r>
                        <m:rad>
                          <m:radPr>
                            <m:degHide m:val="on"/>
                            <m:ctrlPr>
                              <a:rPr lang="ar-AE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a:rPr lang="en-US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a:rPr lang="en-US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3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(11−7)</m:t>
                        </m:r>
                      </m:den>
                    </m:f>
                  </m:oMath>
                </a14:m>
                <a:endParaRPr sz="13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392424"/>
                <a:ext cx="10424160" cy="606000"/>
              </a:xfrm>
              <a:prstGeom prst="rect">
                <a:avLst/>
              </a:prstGeom>
              <a:blipFill>
                <a:blip r:embed="rId3"/>
                <a:stretch>
                  <a:fillRect l="-122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621792" y="4160519"/>
            <a:ext cx="347472" cy="347472"/>
          </a:xfrm>
          <a:prstGeom prst="roundRect">
            <a:avLst>
              <a:gd name="adj" fmla="val 5000"/>
            </a:avLst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16051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097280" y="4142231"/>
                <a:ext cx="10424160" cy="410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300" b="0" i="0" dirty="0">
                    <a:solidFill>
                      <a:srgbClr val="E2E8F0"/>
                    </a:solidFill>
                    <a:latin typeface="Cambria Math"/>
                  </a:rPr>
                  <a:t>Ықшамдаймыз: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∙(</m:t>
                        </m:r>
                        <m:rad>
                          <m:radPr>
                            <m:degHide m:val="on"/>
                            <m:ctrlPr>
                              <a:rPr lang="ar-AE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ar-AE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ar-AE" sz="1300" b="0" i="1" dirty="0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300" b="0" i="0" dirty="0">
                    <a:solidFill>
                      <a:srgbClr val="E2E8F0"/>
                    </a:solidFill>
                    <a:latin typeface="Cambria Math"/>
                  </a:rPr>
                  <a:t> </a:t>
                </a:r>
                <a:r>
                  <a:rPr lang="kk-KZ" sz="1300" b="0" i="0" dirty="0">
                    <a:solidFill>
                      <a:srgbClr val="E2E8F0"/>
                    </a:solidFill>
                    <a:latin typeface="Cambria Math"/>
                  </a:rPr>
                  <a:t>төрттер жойылып кетеді</a:t>
                </a:r>
                <a:endParaRPr sz="13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142231"/>
                <a:ext cx="10424160" cy="410882"/>
              </a:xfrm>
              <a:prstGeom prst="rect">
                <a:avLst/>
              </a:prstGeom>
              <a:blipFill>
                <a:blip r:embed="rId4"/>
                <a:stretch>
                  <a:fillRect l="-122" b="-294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475488" y="4754880"/>
            <a:ext cx="11219688" cy="658368"/>
          </a:xfrm>
          <a:prstGeom prst="rect">
            <a:avLst/>
          </a:prstGeom>
          <a:solidFill>
            <a:srgbClr val="0A2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1792" y="491032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49103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097280" y="4892040"/>
                <a:ext cx="10424160" cy="413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300" b="1" i="0" dirty="0">
                    <a:solidFill>
                      <a:srgbClr val="68D391"/>
                    </a:solidFill>
                    <a:latin typeface="Cambria Math"/>
                  </a:rPr>
                  <a:t>Жауап: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d>
                          <m:dPr>
                            <m:ctrlPr>
                              <a:rPr lang="ar-AE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ar-AE" sz="1300" i="1" dirty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ar-AE" sz="1300" i="1" dirty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rad>
                            <m:r>
                              <a:rPr lang="ar-AE" sz="1300" i="1" dirty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ad>
                              <m:radPr>
                                <m:degHide m:val="on"/>
                                <m:ctrlPr>
                                  <a:rPr lang="ar-AE" sz="1300" i="1" dirty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ar-AE" sz="1300" i="1" dirty="0">
                                    <a:solidFill>
                                      <a:srgbClr val="E2E8F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e>
                        </m:d>
                      </m:den>
                    </m:f>
                    <m:r>
                      <a:rPr lang="ar-AE" sz="1300" b="0" i="1" dirty="0" smtClean="0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rad>
                    <m:r>
                      <a:rPr lang="ar-AE" sz="1300" i="1" dirty="0">
                        <a:solidFill>
                          <a:srgbClr val="E2E8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1300" i="1" dirty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endParaRPr sz="1300" b="1" i="0" dirty="0">
                  <a:solidFill>
                    <a:srgbClr val="68D39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892040"/>
                <a:ext cx="10424160" cy="413318"/>
              </a:xfrm>
              <a:prstGeom prst="rect">
                <a:avLst/>
              </a:prstGeom>
              <a:blipFill>
                <a:blip r:embed="rId5"/>
                <a:stretch>
                  <a:fillRect l="-122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9" grpId="0"/>
      <p:bldP spid="22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ТӘЖІРИБЕ КЕЗЕҢІ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848" y="365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Segoe U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«Дұрысын тап»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Тақтада берілген бөлшектерді иррационалдықтан арылтыңыз: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5394960" cy="1664208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429"/>
                </a:solidFill>
                <a:latin typeface="Segoe UI"/>
              </a:rPr>
              <a:t>ЖАТТЫҒУ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57200" y="2221991"/>
                <a:ext cx="5394960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 smtClean="0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1800" b="0" i="1" smtClean="0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sz="18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21991"/>
                <a:ext cx="5394960" cy="6646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57200" y="3017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94A3B8"/>
                </a:solidFill>
                <a:latin typeface="Segoe UI"/>
              </a:rPr>
              <a:t>💡 √2·ге </a:t>
            </a:r>
            <a:r>
              <a:rPr sz="950" b="0" i="0" dirty="0" err="1">
                <a:solidFill>
                  <a:srgbClr val="94A3B8"/>
                </a:solidFill>
                <a:latin typeface="Segoe UI"/>
              </a:rPr>
              <a:t>көбейт</a:t>
            </a:r>
            <a:endParaRPr sz="950" b="0" i="0" dirty="0">
              <a:solidFill>
                <a:srgbClr val="94A3B8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26480" y="1874519"/>
            <a:ext cx="5394960" cy="1664208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9659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429"/>
                </a:solidFill>
                <a:latin typeface="Segoe UI"/>
              </a:rPr>
              <a:t>ЖАТТЫҒУ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126480" y="2221991"/>
                <a:ext cx="5394960" cy="688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i="1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sz="18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221991"/>
                <a:ext cx="5394960" cy="6884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6172200" y="299274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94A3B8"/>
                </a:solidFill>
                <a:latin typeface="Segoe UI"/>
              </a:rPr>
              <a:t>💡 √5·ке </a:t>
            </a:r>
            <a:r>
              <a:rPr sz="950" b="0" i="0" dirty="0" err="1">
                <a:solidFill>
                  <a:srgbClr val="94A3B8"/>
                </a:solidFill>
                <a:latin typeface="Segoe UI"/>
              </a:rPr>
              <a:t>көбейт</a:t>
            </a:r>
            <a:endParaRPr sz="950" b="0" i="0" dirty="0">
              <a:solidFill>
                <a:srgbClr val="94A3B8"/>
              </a:solidFill>
              <a:latin typeface="Segoe U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5394960" cy="1664208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8404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429"/>
                </a:solidFill>
                <a:latin typeface="Segoe UI"/>
              </a:rPr>
              <a:t>ЖАТТЫҒУ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57200" y="4096511"/>
                <a:ext cx="5394960" cy="688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2E8F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b="0" i="1" smtClean="0">
                              <a:solidFill>
                                <a:srgbClr val="E2E8F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i="1">
                          <a:solidFill>
                            <a:srgbClr val="E2E8F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sz="18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96511"/>
                <a:ext cx="5394960" cy="6884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02920" y="48722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94A3B8"/>
                </a:solidFill>
                <a:latin typeface="Segoe UI"/>
              </a:rPr>
              <a:t>💡 </a:t>
            </a:r>
            <a:r>
              <a:rPr sz="950" b="0" i="0" dirty="0" err="1">
                <a:solidFill>
                  <a:srgbClr val="94A3B8"/>
                </a:solidFill>
                <a:latin typeface="Segoe UI"/>
              </a:rPr>
              <a:t>Түйіндес</a:t>
            </a:r>
            <a:r>
              <a:rPr sz="950" b="0" i="0" dirty="0">
                <a:solidFill>
                  <a:srgbClr val="94A3B8"/>
                </a:solidFill>
                <a:latin typeface="Segoe UI"/>
              </a:rPr>
              <a:t>: (√3−1)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749039"/>
            <a:ext cx="5394960" cy="1664208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8404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B429"/>
                </a:solidFill>
                <a:latin typeface="Segoe UI"/>
              </a:rPr>
              <a:t>ЖАТТЫҒУ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126480" y="4096511"/>
                <a:ext cx="5394960" cy="510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ar-AE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a:rPr lang="en-US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ar-AE" i="1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ar-AE" sz="1800" b="0" i="0" dirty="0">
                    <a:solidFill>
                      <a:srgbClr val="E2E8F0"/>
                    </a:solidFill>
                    <a:latin typeface="Cambria Math"/>
                  </a:rPr>
                  <a:t> </a:t>
                </a:r>
                <a:endParaRPr sz="18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4096511"/>
                <a:ext cx="5394960" cy="5102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217920" y="479556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94A3B8"/>
                </a:solidFill>
                <a:latin typeface="Segoe UI"/>
              </a:rPr>
              <a:t>💡 </a:t>
            </a:r>
            <a:r>
              <a:rPr sz="950" b="0" i="0" dirty="0" err="1">
                <a:solidFill>
                  <a:srgbClr val="94A3B8"/>
                </a:solidFill>
                <a:latin typeface="Segoe UI"/>
              </a:rPr>
              <a:t>Түйіндес</a:t>
            </a:r>
            <a:r>
              <a:rPr sz="950" b="0" i="0" dirty="0">
                <a:solidFill>
                  <a:srgbClr val="94A3B8"/>
                </a:solidFill>
                <a:latin typeface="Segoe UI"/>
              </a:rPr>
              <a:t>: (√7+√2)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89320"/>
            <a:ext cx="11274552" cy="420624"/>
          </a:xfrm>
          <a:prstGeom prst="rect">
            <a:avLst/>
          </a:prstGeom>
          <a:solidFill>
            <a:srgbClr val="2A1E04"/>
          </a:solidFill>
          <a:ln w="9525">
            <a:solidFill>
              <a:srgbClr val="6A4E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0258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429"/>
                </a:solidFill>
                <a:latin typeface="Segoe UI"/>
              </a:rPr>
              <a:t>📊 Дескриптор: Өрнектерді түрлендіреді, дұрыс жауаптарды анықтайды, қолданылған ережені түсіндіреді — 1 ұпай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2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ТӘЖІРИБЕ КЕЗЕҢІ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848" y="365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Segoe U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Жұптық жұмыс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1499616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28800" y="1691640"/>
            <a:ext cx="8531352" cy="2103120"/>
          </a:xfrm>
          <a:prstGeom prst="roundRect">
            <a:avLst>
              <a:gd name="adj" fmla="val 5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0" y="1691640"/>
            <a:ext cx="109728" cy="21031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57400" y="1783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B3ED"/>
                </a:solidFill>
                <a:latin typeface="Segoe UI"/>
              </a:rPr>
              <a:t>Тапсырма: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B429"/>
                </a:solidFill>
                <a:latin typeface="Cambria Math"/>
              </a:rPr>
              <a:t>Оқулықта  № 4.15 есеп (40-бет)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97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Жұбыңмен бірге шешіңдер — шешу жолын дәптерге жазыңдар.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069080"/>
            <a:ext cx="4297680" cy="155448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41605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Segoe UI"/>
              </a:rPr>
              <a:t>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63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B3ED"/>
                </a:solidFill>
                <a:latin typeface="Segoe UI"/>
              </a:rPr>
              <a:t>Оқулық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109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40-бет, № 4.15 есеп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69080"/>
            <a:ext cx="4297680" cy="155448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Segoe UI"/>
              </a:rPr>
              <a:t>✍️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63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B3ED"/>
                </a:solidFill>
                <a:latin typeface="Segoe UI"/>
              </a:rPr>
              <a:t>Шешу жолы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109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Дәптерге толық жазыңдар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74552" cy="420624"/>
          </a:xfrm>
          <a:prstGeom prst="rect">
            <a:avLst/>
          </a:prstGeom>
          <a:solidFill>
            <a:srgbClr val="2A1E04"/>
          </a:solidFill>
          <a:ln w="9525">
            <a:solidFill>
              <a:srgbClr val="6A4E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0258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429"/>
                </a:solidFill>
                <a:latin typeface="Segoe UI"/>
              </a:rPr>
              <a:t>📊 Дескриптор: Өрнектерді түрлендіреді, түйіндес өрнекті дұрыс таңдайды, дұрыс жауаптарды анықтайды — 2 ұпай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ТӘЖІРИБЕ КЕЗЕҢІ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848" y="365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Segoe UI"/>
              </a:rPr>
              <a:t>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E2E8F0"/>
                </a:solidFill>
                <a:latin typeface="Segoe UI"/>
              </a:rPr>
              <a:t>Топтық жұмыс — «Иррационалдықтан арылт»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1499616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02842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3657600" cy="9144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B3ED"/>
                </a:solidFill>
                <a:latin typeface="Segoe UI"/>
              </a:rPr>
              <a:t>🔵  1-топ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942" y="24917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>
                <a:solidFill>
                  <a:srgbClr val="E2E8F0"/>
                </a:solidFill>
                <a:latin typeface="Cambria Math"/>
              </a:rPr>
              <a:t>8√y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55064" y="2916936"/>
            <a:ext cx="1267781" cy="45719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98094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2E8F0"/>
                </a:solidFill>
                <a:latin typeface="Cambria Math"/>
              </a:rPr>
              <a:t>(5√5 − 7)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3B3ED"/>
                </a:solidFill>
                <a:latin typeface="Cambria Math"/>
              </a:rPr>
              <a:t>=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41648"/>
            <a:ext cx="3474720" cy="502920"/>
          </a:xfrm>
          <a:prstGeom prst="rect">
            <a:avLst/>
          </a:prstGeom>
          <a:solidFill>
            <a:srgbClr val="09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087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Бөлімдегі иррационалдықтан арылтыңдар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E104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1691640"/>
            <a:ext cx="3657600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70832" y="187451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  <a:latin typeface="Segoe UI"/>
              </a:rPr>
              <a:t>🟣  2-топ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468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2E8F0"/>
                </a:solidFill>
                <a:latin typeface="Cambria Math"/>
              </a:rPr>
              <a:t>3√a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68696" y="2907792"/>
            <a:ext cx="1233548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298094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2E8F0"/>
                </a:solidFill>
                <a:latin typeface="Cambria Math"/>
              </a:rPr>
              <a:t>(√3 − √a)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8BFA"/>
                </a:solidFill>
                <a:latin typeface="Cambria Math"/>
              </a:rPr>
              <a:t>=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4041648"/>
            <a:ext cx="3474720" cy="502920"/>
          </a:xfrm>
          <a:prstGeom prst="rect">
            <a:avLst/>
          </a:prstGeom>
          <a:solidFill>
            <a:srgbClr val="09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2" y="4087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Түйіндес өрнекті дұрыс таңдаңдар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4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082228"/>
          </a:solidFill>
          <a:ln w="9525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84464" y="1691640"/>
            <a:ext cx="3657600" cy="9144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84464" y="187451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D1C5"/>
                </a:solidFill>
                <a:latin typeface="Segoe UI"/>
              </a:rPr>
              <a:t>🩵  3-топ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4676" y="24551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>
                <a:solidFill>
                  <a:srgbClr val="E2E8F0"/>
                </a:solidFill>
                <a:latin typeface="Cambria Math"/>
              </a:rPr>
              <a:t>(3√y + √a)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33570" y="2907792"/>
            <a:ext cx="1556933" cy="45719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75904" y="298094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2E8F0"/>
                </a:solidFill>
                <a:latin typeface="Cambria Math"/>
              </a:rPr>
              <a:t>(5√y − √a)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D1C5"/>
                </a:solidFill>
                <a:latin typeface="Cambria Math"/>
              </a:rPr>
              <a:t>=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4041648"/>
            <a:ext cx="3474720" cy="502920"/>
          </a:xfrm>
          <a:prstGeom prst="rect">
            <a:avLst/>
          </a:prstGeom>
          <a:solidFill>
            <a:srgbClr val="09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21624" y="4087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Ережені түсіндіріп шешіңдер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89320"/>
            <a:ext cx="11274552" cy="420624"/>
          </a:xfrm>
          <a:prstGeom prst="rect">
            <a:avLst/>
          </a:prstGeom>
          <a:solidFill>
            <a:srgbClr val="2A1E04"/>
          </a:solidFill>
          <a:ln w="9525">
            <a:solidFill>
              <a:srgbClr val="6A4E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60258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429"/>
                </a:solidFill>
                <a:latin typeface="Segoe UI"/>
              </a:rPr>
              <a:t>📊 Дескриптор: Топта талқылайды, түйіндес өрнекті дұрыс таңдайды, қолданылған ережені түсіндіреді — 2 ұпай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ТЕРЕҢДЕТУ КЕЗЕҢІ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848" y="365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Segoe UI"/>
              </a:rPr>
              <a:t>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«Ойлан – тап»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1499616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719072"/>
            <a:ext cx="347472" cy="347472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190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664208"/>
            <a:ext cx="10817352" cy="475488"/>
          </a:xfrm>
          <a:prstGeom prst="rect">
            <a:avLst/>
          </a:prstGeom>
          <a:solidFill>
            <a:srgbClr val="11182A"/>
          </a:solidFill>
          <a:ln w="9525">
            <a:solidFill>
              <a:srgbClr val="20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051560" y="1719072"/>
                <a:ext cx="10515600" cy="364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120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 i="1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ar-AE" sz="1200" i="1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=? </m:t>
                    </m:r>
                  </m:oMath>
                </a14:m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бөлшегін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иррационалдықтан</a:t>
                </a:r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арылтыңдар</a:t>
                </a:r>
                <a:endParaRPr sz="12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1719072"/>
                <a:ext cx="10515600" cy="364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457200" y="2633472"/>
            <a:ext cx="347472" cy="347472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633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578608"/>
            <a:ext cx="10817352" cy="475488"/>
          </a:xfrm>
          <a:prstGeom prst="rect">
            <a:avLst/>
          </a:prstGeom>
          <a:solidFill>
            <a:srgbClr val="11182A"/>
          </a:solidFill>
          <a:ln w="9525">
            <a:solidFill>
              <a:srgbClr val="20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051560" y="2633472"/>
                <a:ext cx="10515600" cy="364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120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ar-AE" sz="1200" i="1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=? </m:t>
                    </m:r>
                  </m:oMath>
                </a14:m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өрнегін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түрлендіріңдер</a:t>
                </a:r>
                <a:endParaRPr sz="12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2633472"/>
                <a:ext cx="10515600" cy="3640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/>
          <p:cNvSpPr/>
          <p:nvPr/>
        </p:nvSpPr>
        <p:spPr>
          <a:xfrm>
            <a:off x="457200" y="3547872"/>
            <a:ext cx="347472" cy="347472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5478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493008"/>
            <a:ext cx="10817352" cy="475488"/>
          </a:xfrm>
          <a:prstGeom prst="rect">
            <a:avLst/>
          </a:prstGeom>
          <a:solidFill>
            <a:srgbClr val="11182A"/>
          </a:solidFill>
          <a:ln w="9525">
            <a:solidFill>
              <a:srgbClr val="20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051560" y="3547872"/>
                <a:ext cx="10515600" cy="365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120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rgbClr val="E2E8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200" i="1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200" b="0" i="1" smtClean="0">
                                <a:solidFill>
                                  <a:srgbClr val="E2E8F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a:rPr lang="ar-AE" sz="1200" i="1">
                        <a:solidFill>
                          <a:srgbClr val="E2E8F0"/>
                        </a:solidFill>
                        <a:latin typeface="Cambria Math" panose="02040503050406030204" pitchFamily="18" charset="0"/>
                      </a:rPr>
                      <m:t>=? </m:t>
                    </m:r>
                  </m:oMath>
                </a14:m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өрнегінің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бөлімін</a:t>
                </a:r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иррационалдықтан</a:t>
                </a:r>
                <a:r>
                  <a:rPr lang="ru-RU" sz="1200" b="0" i="0" dirty="0">
                    <a:solidFill>
                      <a:srgbClr val="E2E8F0"/>
                    </a:solidFill>
                    <a:latin typeface="Cambria Math"/>
                  </a:rPr>
                  <a:t> </a:t>
                </a:r>
                <a:r>
                  <a:rPr lang="ru-RU" sz="1200" b="0" i="0" dirty="0" err="1">
                    <a:solidFill>
                      <a:srgbClr val="E2E8F0"/>
                    </a:solidFill>
                    <a:latin typeface="Cambria Math"/>
                  </a:rPr>
                  <a:t>арылтыңдар</a:t>
                </a:r>
                <a:endParaRPr sz="1200" b="0" i="0" dirty="0">
                  <a:solidFill>
                    <a:srgbClr val="E2E8F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3547872"/>
                <a:ext cx="10515600" cy="3652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/>
          <p:cNvSpPr/>
          <p:nvPr/>
        </p:nvSpPr>
        <p:spPr>
          <a:xfrm>
            <a:off x="457200" y="4462272"/>
            <a:ext cx="347472" cy="347472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407408"/>
            <a:ext cx="10817352" cy="475488"/>
          </a:xfrm>
          <a:prstGeom prst="rect">
            <a:avLst/>
          </a:prstGeom>
          <a:solidFill>
            <a:srgbClr val="11182A"/>
          </a:solidFill>
          <a:ln w="9525">
            <a:solidFill>
              <a:srgbClr val="20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462272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Неліктен (√5+√2) өрнегіне түйіндес өрнек ретінде (√5−√2) алынады?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89320"/>
            <a:ext cx="11274552" cy="420624"/>
          </a:xfrm>
          <a:prstGeom prst="rect">
            <a:avLst/>
          </a:prstGeom>
          <a:solidFill>
            <a:srgbClr val="2A1E04"/>
          </a:solidFill>
          <a:ln w="9525">
            <a:solidFill>
              <a:srgbClr val="6A4E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0258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429"/>
                </a:solidFill>
                <a:latin typeface="Segoe UI"/>
              </a:rPr>
              <a:t>📊 Дескриптор: сұрақтарға дұрыс жауап береді — 2 ұпай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22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БАҒАЛАУ КЕЗЕҢІ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848" y="365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Segoe UI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Жеке жұмыс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1499616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28800" y="1691640"/>
            <a:ext cx="8531352" cy="1691640"/>
          </a:xfrm>
          <a:prstGeom prst="roundRect">
            <a:avLst>
              <a:gd name="adj" fmla="val 5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596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  <a:latin typeface="Segoe UI"/>
              </a:rPr>
              <a:t>Әр оқушыға жеке тапсырмалар беріледі.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267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B429"/>
                </a:solidFill>
                <a:latin typeface="Segoe UI"/>
              </a:rPr>
              <a:t>Тапсырмаларды өз бетіңше орындаңыз.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2E8F0"/>
                </a:solidFill>
                <a:latin typeface="Segoe U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  <a:latin typeface="Segoe UI"/>
              </a:rPr>
              <a:t>Өрнектерді
түрлендіру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6576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3794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2E8F0"/>
                </a:solidFill>
                <a:latin typeface="Segoe U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4434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  <a:latin typeface="Segoe UI"/>
              </a:rPr>
              <a:t>Иррационалдықтан
дұрыс арылу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4" y="36576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A2236"/>
          </a:solidFill>
          <a:ln w="9525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84464" y="3794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2E8F0"/>
                </a:solidFill>
                <a:latin typeface="Segoe UI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4434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  <a:latin typeface="Segoe UI"/>
              </a:rPr>
              <a:t>Түйіндес өрнектерді
қолдану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89320"/>
            <a:ext cx="11274552" cy="420624"/>
          </a:xfrm>
          <a:prstGeom prst="rect">
            <a:avLst/>
          </a:prstGeom>
          <a:solidFill>
            <a:srgbClr val="2A1E04"/>
          </a:solidFill>
          <a:ln w="9525">
            <a:solidFill>
              <a:srgbClr val="6A4E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0258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429"/>
                </a:solidFill>
                <a:latin typeface="Segoe UI"/>
              </a:rPr>
              <a:t>📊 Дескриптор: Өрнектерді түрлендіреді, иррационалдықтан дұрыс арылады, түйіндес өрнектерді қолданады, шешу жолын жазады — 2 ұпай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ҚОРЫТЫНДЫЛАУ КЕЗЕҢІ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Сабақты қорытындылаймыз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554480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73152" cy="43891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0352" y="1737360"/>
            <a:ext cx="11155680" cy="438912"/>
          </a:xfrm>
          <a:prstGeom prst="rect">
            <a:avLst/>
          </a:prstGeom>
          <a:solidFill>
            <a:srgbClr val="0C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801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💬  Бөлшек бөлімін иррационалдықтан арылту дегеніміз не?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59152"/>
            <a:ext cx="73152" cy="43891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0352" y="2359152"/>
            <a:ext cx="11155680" cy="438912"/>
          </a:xfrm>
          <a:prstGeom prst="rect">
            <a:avLst/>
          </a:prstGeom>
          <a:solidFill>
            <a:srgbClr val="0C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423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mbria Math"/>
              </a:rPr>
              <a:t>💬  Бөлімде √a тұрса, қандай өрнекке көбейтеміз?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80944"/>
            <a:ext cx="73152" cy="43891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2" y="2980944"/>
            <a:ext cx="11155680" cy="438912"/>
          </a:xfrm>
          <a:prstGeom prst="rect">
            <a:avLst/>
          </a:prstGeom>
          <a:solidFill>
            <a:srgbClr val="0C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04495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💬  Түйіндес өрнектер дегеніміз не?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02736"/>
            <a:ext cx="73152" cy="43891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" y="3602736"/>
            <a:ext cx="11155680" cy="438912"/>
          </a:xfrm>
          <a:prstGeom prst="rect">
            <a:avLst/>
          </a:prstGeom>
          <a:solidFill>
            <a:srgbClr val="0C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6674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mbria Math"/>
              </a:rPr>
              <a:t>💬  (√a + √b) өрнегіне түйіндес өрнек қандай?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24528"/>
            <a:ext cx="73152" cy="43891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0352" y="4224528"/>
            <a:ext cx="11155680" cy="438912"/>
          </a:xfrm>
          <a:prstGeom prst="rect">
            <a:avLst/>
          </a:prstGeom>
          <a:solidFill>
            <a:srgbClr val="0C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28853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Segoe UI"/>
              </a:rPr>
              <a:t>💬  Бөлшек бөлімін иррационалдықтан арылту не үшін қажет?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8" grpId="0"/>
      <p:bldP spid="21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РЕФЛЕКСИЯ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848" y="365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Segoe UI"/>
              </a:rPr>
              <a:t>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Рефлексия  «3-2-1»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1499616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0C2A1A"/>
          </a:solidFill>
          <a:ln w="9525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3657600" cy="91440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68D391"/>
                </a:solidFill>
                <a:latin typeface="Segoe UI Blac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Бүгін білгенім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Сабақта меңгерген үш жаңа ақпарат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69164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2A1E04"/>
          </a:solidFill>
          <a:ln w="9525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1691640"/>
            <a:ext cx="3657600" cy="9144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0B429"/>
                </a:solidFill>
                <a:latin typeface="Segoe UI Blac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429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Мен үшін маңызды болғаны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9136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Ерекше назар аударған екі нәрсе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169164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2A0A0A"/>
          </a:solidFill>
          <a:ln w="9525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84464" y="1691640"/>
            <a:ext cx="3657600" cy="9144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C8181"/>
                </a:solidFill>
                <a:latin typeface="Segoe UI Black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429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Әлі де білгім келетіні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9136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Тереңдетіп зерттегім келетін мәселе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50292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88152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-1645920"/>
            <a:ext cx="5029200" cy="5029200"/>
          </a:xfrm>
          <a:prstGeom prst="ellipse">
            <a:avLst/>
          </a:prstGeom>
          <a:solidFill>
            <a:srgbClr val="0D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097280" y="4389120"/>
            <a:ext cx="4114800" cy="4114800"/>
          </a:xfrm>
          <a:prstGeom prst="ellipse">
            <a:avLst/>
          </a:prstGeom>
          <a:solidFill>
            <a:srgbClr val="10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B3ED"/>
                </a:solidFill>
                <a:latin typeface="Segoe UI"/>
              </a:rPr>
              <a:t>ҮЙ ТАПСЫРМАСЫ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1848" y="365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2E8F0"/>
                </a:solidFill>
                <a:latin typeface="Segoe UI"/>
              </a:rP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8F0"/>
                </a:solidFill>
                <a:latin typeface="Segoe UI"/>
              </a:rPr>
              <a:t>Үй тапсырмасы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1499616"/>
            <a:ext cx="1828800" cy="45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28800" y="1737360"/>
            <a:ext cx="8531352" cy="3108960"/>
          </a:xfrm>
          <a:prstGeom prst="roundRect">
            <a:avLst>
              <a:gd name="adj" fmla="val 5000"/>
            </a:avLst>
          </a:prstGeom>
          <a:solidFill>
            <a:srgbClr val="0C2A1A"/>
          </a:solidFill>
          <a:ln w="9525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0" y="1737360"/>
            <a:ext cx="8531352" cy="91440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1920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Оқулықтан орындаңыз: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074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C1E38"/>
          </a:solidFill>
          <a:ln w="9525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0" y="51114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B3ED"/>
                </a:solidFill>
                <a:latin typeface="Segoe UI"/>
              </a:rPr>
              <a:t>📅  Келесі сабаққа дейін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9752" y="5074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C2A1A"/>
          </a:solidFill>
          <a:ln w="9525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9752" y="51114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D391"/>
                </a:solidFill>
                <a:latin typeface="Segoe UI"/>
              </a:rPr>
              <a:t>✍️  Дәптерде шешу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Рахмет! Сабаққа белсенді қатысқандарыңызға  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806</Words>
  <Application>Microsoft Macintosh PowerPoint</Application>
  <PresentationFormat>Произвольный</PresentationFormat>
  <Paragraphs>171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 Math</vt:lpstr>
      <vt:lpstr>Consolas</vt:lpstr>
      <vt:lpstr>Segoe UI</vt:lpstr>
      <vt:lpstr>Segoe UI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Маржан Утжанова</cp:lastModifiedBy>
  <cp:revision>2</cp:revision>
  <dcterms:created xsi:type="dcterms:W3CDTF">2013-01-27T09:14:16Z</dcterms:created>
  <dcterms:modified xsi:type="dcterms:W3CDTF">2026-10-08T06:42:18Z</dcterms:modified>
  <cp:category/>
</cp:coreProperties>
</file>