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28"/>
  </p:normalViewPr>
  <p:slideViewPr>
    <p:cSldViewPr snapToGrid="0" snapToObjects="1">
      <p:cViewPr varScale="1">
        <p:scale>
          <a:sx n="100" d="100"/>
          <a:sy n="100" d="100"/>
        </p:scale>
        <p:origin x="102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dwall.net/kk/resource/57072256?wwmethod=lin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Users/marzanotzanova/Documents/Codex/2026-09-13/create-a-premium-cinematic-vertical-math/outputs/5-synyp-EUOB-EKOE-Voice-Final-16x9.mp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A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22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26679" y="4114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66759" y="41148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006839" y="41148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46919" y="4114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86999" y="41148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27079" y="41148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67159" y="4114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26679" y="10515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66759" y="105156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06839" y="105156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46919" y="10515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86999" y="105156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27079" y="105156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67159" y="10515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26679" y="16916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66759" y="169164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06839" y="169164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46919" y="16916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86999" y="169164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27079" y="169164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567159" y="16916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26679" y="23317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66759" y="233172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06839" y="233172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46919" y="23317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286999" y="233172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27079" y="233172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567159" y="23317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26679" y="29718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66759" y="297180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06839" y="297180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46919" y="29718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286999" y="297180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27079" y="297180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67159" y="29718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26679" y="36118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66759" y="361188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006839" y="361188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46919" y="36118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286999" y="361188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927079" y="361188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567159" y="361188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726679" y="42519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366759" y="425196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006839" y="425196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646919" y="42519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286999" y="425196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927079" y="425196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567159" y="425196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726679" y="48920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366759" y="489204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006839" y="489204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646919" y="48920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286999" y="489204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927079" y="489204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567159" y="489204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726679" y="55321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366759" y="553212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006839" y="553212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646919" y="55321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286999" y="553212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927079" y="553212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567159" y="553212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726679" y="61722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366759" y="617220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006839" y="617220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646919" y="61722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286999" y="6172200"/>
            <a:ext cx="91440" cy="91440"/>
          </a:xfrm>
          <a:prstGeom prst="ellipse">
            <a:avLst/>
          </a:prstGeom>
          <a:solidFill>
            <a:srgbClr val="32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27079" y="6172200"/>
            <a:ext cx="146304" cy="146304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567159" y="6172200"/>
            <a:ext cx="109728" cy="109728"/>
          </a:xfrm>
          <a:prstGeom prst="ellipse">
            <a:avLst/>
          </a:prstGeom>
          <a:solidFill>
            <a:srgbClr val="2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02920" y="1371600"/>
            <a:ext cx="164592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2648" y="143560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5-СЫНЫП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1901952"/>
            <a:ext cx="2377440" cy="381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02920" y="205740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Ең үлкен ортақ бөлгіш.</a:t>
            </a:r>
          </a:p>
          <a:p>
            <a:pPr>
              <a:spcBef>
                <a:spcPts val="40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Өзара жай сандар.</a:t>
            </a:r>
          </a:p>
          <a:p>
            <a:pPr>
              <a:spcBef>
                <a:spcPts val="40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Ең кіші ортақ еселік.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583387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A8E0"/>
                </a:solidFill>
                <a:latin typeface="Calibri"/>
              </a:rPr>
              <a:t>Математика  ·  5-сынып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Оқу бағдарламасына сәйкес оқыту мақсаттары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2011680" cy="384048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МАҚСАТ КОДЫ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121408"/>
            <a:ext cx="2743200" cy="1828800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304288"/>
            <a:ext cx="2651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5.5.1.2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Calibri"/>
              </a:rPr>
              <a:t>Оқыту мақсаты: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E243B"/>
                </a:solidFill>
                <a:latin typeface="Calibri"/>
              </a:rPr>
              <a:t>Мәтінді есептерді шығаруда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4C72E8"/>
                </a:solidFill>
                <a:latin typeface="Calibri"/>
              </a:rPr>
              <a:t>ЕҮОБ және ЕКОЕ қолдану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Сабақтың мақсаты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1371600" cy="384048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МАҚСАТ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12140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Оқушылар сабақ соңында: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697480"/>
            <a:ext cx="11274552" cy="1417320"/>
          </a:xfrm>
          <a:prstGeom prst="rect">
            <a:avLst/>
          </a:prstGeom>
          <a:solidFill>
            <a:srgbClr val="EEF3FF"/>
          </a:solidFill>
          <a:ln w="19050">
            <a:solidFill>
              <a:srgbClr val="4C7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697480"/>
            <a:ext cx="109728" cy="1417320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49808" y="3063240"/>
            <a:ext cx="621792" cy="621792"/>
          </a:xfrm>
          <a:prstGeom prst="ellipse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06324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2898648"/>
            <a:ext cx="997610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43B"/>
                </a:solidFill>
                <a:latin typeface="Calibri"/>
              </a:rPr>
              <a:t>ЕҮОБ, өзара жай сандар және ЕКОЕ ұғымдарын қолдана отырып,
мәтінді есептерді шығарады;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11274552" cy="1417320"/>
          </a:xfrm>
          <a:prstGeom prst="rect">
            <a:avLst/>
          </a:prstGeom>
          <a:solidFill>
            <a:srgbClr val="E4F8F8"/>
          </a:solidFill>
          <a:ln w="19050">
            <a:solidFill>
              <a:srgbClr val="22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109728" cy="141732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49808" y="4663440"/>
            <a:ext cx="621792" cy="62179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466344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4498848"/>
            <a:ext cx="997610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43B"/>
                </a:solidFill>
                <a:latin typeface="Calibri"/>
              </a:rPr>
              <a:t>Есептің шартына қарай ЕҮОБ немесе ЕКОЕ қолдану
қажеттігін өз бетімен анықтайды.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«Миға шабуыл» әдісі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7782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0FF"/>
                </a:solidFill>
                <a:latin typeface="Calibri"/>
              </a:rPr>
              <a:t>Бастапқы білімді тексеру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572768"/>
            <a:ext cx="2194560" cy="384048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1636776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БАСТАПҚЫ БІЛІМ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267712"/>
            <a:ext cx="11274552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E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267712"/>
            <a:ext cx="11274552" cy="566928"/>
          </a:xfrm>
          <a:prstGeom prst="rect">
            <a:avLst/>
          </a:prstGeom>
          <a:solidFill>
            <a:srgbClr val="FE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2267712"/>
            <a:ext cx="109728" cy="2743200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2340864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962A"/>
                </a:solidFill>
                <a:latin typeface="Calibri"/>
              </a:rPr>
              <a:t>Интерактивті тапсырма — Wordwall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962656"/>
            <a:ext cx="109087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A2242"/>
                </a:solidFill>
                <a:hlinkClick r:id="rId2"/>
              </a:rPr>
              <a:t>https://wordwall.net/kk/resource/57072256?wwmethod=link</a:t>
            </a:r>
            <a:endParaRPr lang="kk-KZ" sz="2200" b="1" dirty="0">
              <a:solidFill>
                <a:srgbClr val="1A2242"/>
              </a:solidFill>
            </a:endParaRPr>
          </a:p>
          <a:p>
            <a:endParaRPr sz="2200" b="1" i="0" dirty="0">
              <a:solidFill>
                <a:srgbClr val="1A2242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5285232"/>
            <a:ext cx="11274552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5367528"/>
            <a:ext cx="10945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Дескриптор: әр дұрыс жауап — 1 ұпай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Негізгі ұғымдарды қайталау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7782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0FF"/>
                </a:solidFill>
                <a:latin typeface="Calibri"/>
              </a:rPr>
              <a:t>Видеоанимациямен бекіту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572768"/>
            <a:ext cx="36576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1572768"/>
            <a:ext cx="3657600" cy="1261872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1664208"/>
            <a:ext cx="3291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ЕҮОБ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3657600" cy="3310128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43B"/>
                </a:solidFill>
                <a:latin typeface="Calibri"/>
              </a:rPr>
              <a:t>Ортақ бөлгіштердің
ең үлкені.
ЕҮОБ(12, 18) = 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1572768"/>
            <a:ext cx="36576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70832" y="1572768"/>
            <a:ext cx="3657600" cy="1261872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1664208"/>
            <a:ext cx="3291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Өзара жай
сандар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2834640"/>
            <a:ext cx="3657600" cy="3310128"/>
          </a:xfrm>
          <a:prstGeom prst="rect">
            <a:avLst/>
          </a:prstGeom>
          <a:solidFill>
            <a:srgbClr val="E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3712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43B"/>
                </a:solidFill>
                <a:latin typeface="Calibri"/>
              </a:rPr>
              <a:t>ЕҮОБ = 1 болатын
сандар жұбы.
ЕҮОБ(8, 9) =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84464" y="1572768"/>
            <a:ext cx="36576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84464" y="1572768"/>
            <a:ext cx="3657600" cy="1261872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1664208"/>
            <a:ext cx="3291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ЕКОЕ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4464" y="2834640"/>
            <a:ext cx="3657600" cy="3310128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67344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43B"/>
                </a:solidFill>
                <a:latin typeface="Calibri"/>
              </a:rPr>
              <a:t>Ортақ еселіктердің
ең кішісі.
ЕКОЕ(4, 6) =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9107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▶ 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Видеоанимация</a:t>
            </a:r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осы</a:t>
            </a:r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тақырыптар</a:t>
            </a:r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бойынша</a:t>
            </a:r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қайталауға</a:t>
            </a:r>
            <a:r>
              <a:rPr sz="1300" b="0" i="1" dirty="0">
                <a:solidFill>
                  <a:srgbClr val="64748B"/>
                </a:solidFill>
                <a:latin typeface="Calibri"/>
                <a:hlinkClick r:id="rId2"/>
              </a:rPr>
              <a:t> </a:t>
            </a:r>
            <a:r>
              <a:rPr sz="1300" b="0" i="1" dirty="0" err="1">
                <a:solidFill>
                  <a:srgbClr val="64748B"/>
                </a:solidFill>
                <a:latin typeface="Calibri"/>
                <a:hlinkClick r:id="rId2"/>
              </a:rPr>
              <a:t>арналған</a:t>
            </a:r>
            <a:endParaRPr sz="13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«Қайсысын қолданамыз?» әдісі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237744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БАҒЫТТАУШЫ СҰРАҚ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267712"/>
            <a:ext cx="11274552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4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2267712"/>
            <a:ext cx="109728" cy="155448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2414016"/>
            <a:ext cx="128016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247802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1-есеп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246888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243B"/>
                </a:solidFill>
                <a:latin typeface="Calibri"/>
              </a:rPr>
              <a:t>24 алма мен 36 алманы бірдей құрамды ең көп топқа бөлу керек.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05072"/>
            <a:ext cx="11274552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4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005072"/>
            <a:ext cx="109728" cy="155448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4151376"/>
            <a:ext cx="128016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21538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2-есеп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420624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243B"/>
                </a:solidFill>
                <a:latin typeface="Calibri"/>
              </a:rPr>
              <a:t>Бір автобус 6 минут сайын, екіншісі 8 минут сайын келеді.
Қайтадан қашан бірге келеді?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14416"/>
            <a:ext cx="11274552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696712"/>
            <a:ext cx="10945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Дескриптор: мәтінді есепке сәйкес ЕҮОБ немесе ЕКОЕ-ні дұрыс анықтайды — 1 балл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Жұптық жұмыс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2011680" cy="384048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ЖҰПТЫҚ ЖҰМЫС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267712"/>
            <a:ext cx="11274552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2267712"/>
            <a:ext cx="109728" cy="1554480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2414016"/>
            <a:ext cx="1280160" cy="384048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247802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1-есеп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246888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243B"/>
                </a:solidFill>
                <a:latin typeface="Calibri"/>
              </a:rPr>
              <a:t>36 қызыл және 48 көк қарындашты бірдей құрамды
мүмкіндігінше көп қорапқа бөлу. Неше қорап болады?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05072"/>
            <a:ext cx="11274552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005072"/>
            <a:ext cx="109728" cy="1554480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4151376"/>
            <a:ext cx="1280160" cy="384048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21538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2-есеп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420624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243B"/>
                </a:solidFill>
                <a:latin typeface="Calibri"/>
              </a:rPr>
              <a:t>Бір шам 8 секунд сайын, екінші шам 12 секунд сайын жанады.
Екеуі бірге жанды. Қайтадан неше секундтан кейін?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14416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696712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Есептің шартына сәйкес ЕҮОБ/ЕКОЕ таңдайды — 1 балл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3056" y="5614416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5696712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Есепті дұрыс шығарып, жауабын жазады — 1 балл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382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5EEC"/>
                </a:solidFill>
                <a:latin typeface="Calibri"/>
              </a:rPr>
              <a:t>Жалпы: 2 балл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Топтық жұмыс «Математикалық зерттеушілер»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192024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ТОПТЫҚ ЖҰМЫС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176272"/>
            <a:ext cx="365760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2176272"/>
            <a:ext cx="3657600" cy="594360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212848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1-топ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70632"/>
            <a:ext cx="3657600" cy="2441448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290779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43B"/>
                </a:solidFill>
                <a:latin typeface="Calibri"/>
              </a:rPr>
              <a:t>60 алма және 84 алмұртты
бірдей құрамды ең көп
себетке бөлу.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2176272"/>
            <a:ext cx="365760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70832" y="2176272"/>
            <a:ext cx="3657600" cy="59436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2212848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2-топ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0832" y="2770632"/>
            <a:ext cx="3657600" cy="2441448"/>
          </a:xfrm>
          <a:prstGeom prst="rect">
            <a:avLst/>
          </a:prstGeom>
          <a:solidFill>
            <a:srgbClr val="E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3712" y="290779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43B"/>
                </a:solidFill>
                <a:latin typeface="Calibri"/>
              </a:rPr>
              <a:t>Бір қоңырау 12 мин сайын,
екіншісі 18 мин сайын соғылады.
Қашан бірге соғылады?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2176272"/>
            <a:ext cx="365760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84464" y="2176272"/>
            <a:ext cx="3657600" cy="594360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84464" y="2212848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3-топ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770632"/>
            <a:ext cx="3657600" cy="2441448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67344" y="290779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43B"/>
                </a:solidFill>
                <a:latin typeface="Calibri"/>
              </a:rPr>
              <a:t>18 және 25 сандары
өзара жай ма?
Дәлелде.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40680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5522976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Есептің математикалық моделін дұрыс анықтайды — 1 балл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63056" y="5440680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5522976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Шешу жолын және жауабын дұрыс көрсетеді — 1 балл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1996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B8BB"/>
                </a:solidFill>
                <a:latin typeface="Calibri"/>
              </a:rPr>
              <a:t>Жалпы: 2 балл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«Ойлан – тап» әдісі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7782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0FF"/>
                </a:solidFill>
                <a:latin typeface="Calibri"/>
              </a:rPr>
              <a:t>ЕҮОБ немесе ЕКОЕ — дұрыс әдісті таңдаңыз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572768"/>
            <a:ext cx="1828800" cy="384048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163677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ОЙЛАН – ТАП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267712"/>
            <a:ext cx="11274552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E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267712"/>
            <a:ext cx="109728" cy="2651760"/>
          </a:xfrm>
          <a:prstGeom prst="rect">
            <a:avLst/>
          </a:prstGeom>
          <a:solidFill>
            <a:srgbClr val="E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24688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43B"/>
                </a:solidFill>
                <a:latin typeface="Calibri"/>
              </a:rPr>
              <a:t>4 тапсырма беріледі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24612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43B"/>
                </a:solidFill>
                <a:latin typeface="Calibri"/>
              </a:rPr>
              <a:t>Мәтінді есептердің қайсысында ЕҮОБ,
қайсысында ЕКОЕ қолданылатынын анықтаңыз.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30368"/>
            <a:ext cx="11274552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5312664"/>
            <a:ext cx="10945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4 тапсырманың әрқайсысына дұрыс әдіс таңдайды — 2 балл (0,5 балл × 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22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22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Жеке жұмыс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7782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0FF"/>
                </a:solidFill>
                <a:latin typeface="Calibri"/>
              </a:rPr>
              <a:t>Бағалау тапсырмасы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572768"/>
            <a:ext cx="1737360" cy="384048"/>
          </a:xfrm>
          <a:prstGeom prst="rect">
            <a:avLst/>
          </a:prstGeom>
          <a:solidFill>
            <a:srgbClr val="22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163677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ЖЕКЕ ЖҰМЫС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240280"/>
            <a:ext cx="11274552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4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240280"/>
            <a:ext cx="109728" cy="2423160"/>
          </a:xfrm>
          <a:prstGeom prst="rect">
            <a:avLst/>
          </a:prstGeom>
          <a:solidFill>
            <a:srgbClr val="22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2423160"/>
            <a:ext cx="10908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43B"/>
                </a:solidFill>
                <a:latin typeface="Calibri"/>
              </a:rPr>
              <a:t>Тапсырманы өз бетіңізше орындаңыз.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1821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Calibri"/>
              </a:rPr>
              <a:t>(Мұғалім тапсырма карточкасын таратады)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92624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5074920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ЕҮОБ және ЕКОЕ-ні дұрыс есептейді — 1 балл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4992624"/>
            <a:ext cx="5568696" cy="566928"/>
          </a:xfrm>
          <a:prstGeom prst="rect">
            <a:avLst/>
          </a:prstGeom>
          <a:solidFill>
            <a:srgbClr val="E2F8EE"/>
          </a:solidFill>
          <a:ln w="19050">
            <a:solidFill>
              <a:srgbClr val="22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7648" y="5074920"/>
            <a:ext cx="5239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2A878"/>
                </a:solidFill>
                <a:latin typeface="Calibri"/>
              </a:rPr>
              <a:t>✓  Мәтінді есепті дұрыс шығарып, жауабын жазады — 1 балл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424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B888"/>
                </a:solidFill>
                <a:latin typeface="Calibri"/>
              </a:rPr>
              <a:t>Жалпы: 2 балл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08176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08176"/>
            <a:ext cx="12188952" cy="508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D8E2F4"/>
                </a:solidFill>
                <a:latin typeface="Calibri"/>
              </a:rPr>
              <a:t>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√x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D8E2F4"/>
                </a:solidFill>
                <a:latin typeface="Calibri"/>
              </a:rPr>
              <a:t>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f(x)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n²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D8E2F4"/>
                </a:solidFill>
                <a:latin typeface="Calibri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8E2F4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D8E2F4"/>
                </a:solidFill>
                <a:latin typeface="Calibr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D8E2F4"/>
                </a:solidFill>
                <a:latin typeface="Calibri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D8E2F4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D8E2F4"/>
                </a:solidFill>
                <a:latin typeface="Calibri"/>
              </a:rPr>
              <a:t>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D8E2F4"/>
                </a:solidFill>
                <a:latin typeface="Calibri"/>
              </a:rPr>
              <a:t>Σ</a:t>
            </a:r>
          </a:p>
        </p:txBody>
      </p:sp>
      <p:sp>
        <p:nvSpPr>
          <p:cNvPr id="26" name="Oval 25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30584" y="6528816"/>
            <a:ext cx="118872" cy="118872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Сабақты қорытындылау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572768"/>
            <a:ext cx="1920240" cy="384048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163677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АУЫЗША СҰРАҚ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240280"/>
            <a:ext cx="1127455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2240280"/>
            <a:ext cx="109728" cy="1207008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2350008"/>
            <a:ext cx="1371600" cy="384048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2414016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ЕҮОБ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4288" y="2478024"/>
            <a:ext cx="9262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43B"/>
                </a:solidFill>
                <a:latin typeface="Calibri"/>
              </a:rPr>
              <a:t>«ЕҮОБ-ты қандай жағдайда қолданамыз?»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11880"/>
            <a:ext cx="1127455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611880"/>
            <a:ext cx="109728" cy="120700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3721608"/>
            <a:ext cx="1371600" cy="384048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3785616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ЕКОЕ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3849624"/>
            <a:ext cx="9262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43B"/>
                </a:solidFill>
                <a:latin typeface="Calibri"/>
              </a:rPr>
              <a:t>«ЕКОЕ-ні қандай жағдайда қолданамыз?»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109728" cy="1207008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85800" y="5093208"/>
            <a:ext cx="1371600" cy="384048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8" y="5157216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АНЫҚТАМА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5221224"/>
            <a:ext cx="9262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43B"/>
                </a:solidFill>
                <a:latin typeface="Calibri"/>
              </a:rPr>
              <a:t>«Өзара жай сандар дегеніміз не?»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6032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>
                <a:solidFill>
                  <a:srgbClr val="B2B5C0"/>
                </a:solidFill>
                <a:latin typeface="Calibri"/>
              </a:rPr>
              <a:t>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B2B5C0"/>
                </a:solidFill>
                <a:latin typeface="Calibri"/>
              </a:rPr>
              <a:t>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852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B2B5C0"/>
                </a:solidFill>
                <a:latin typeface="Calibri"/>
              </a:rPr>
              <a:t>√x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1031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1">
                <a:solidFill>
                  <a:srgbClr val="B2B5C0"/>
                </a:solidFill>
                <a:latin typeface="Calibri"/>
              </a:rPr>
              <a:t>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5760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B2B5C0"/>
                </a:solidFill>
                <a:latin typeface="Calibri"/>
              </a:rPr>
              <a:t>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B2B5C0"/>
                </a:solidFill>
                <a:latin typeface="Calibri"/>
              </a:rPr>
              <a:t>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B2B5C0"/>
                </a:solidFill>
                <a:latin typeface="Calibri"/>
              </a:rPr>
              <a:t>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5486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B2B5C0"/>
                </a:solidFill>
                <a:latin typeface="Calibri"/>
              </a:rPr>
              <a:t>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35661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B2B5C0"/>
                </a:solidFill>
                <a:latin typeface="Calibri"/>
              </a:rPr>
              <a:t>f(x)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59436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B2B5C0"/>
                </a:solidFill>
                <a:latin typeface="Calibri"/>
              </a:rPr>
              <a:t>n²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3949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>
                <a:solidFill>
                  <a:srgbClr val="B2B5C0"/>
                </a:solidFill>
                <a:latin typeface="Calibri"/>
              </a:rPr>
              <a:t>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B2B5C0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51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B2B5C0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1737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B2B5C0"/>
                </a:solidFill>
                <a:latin typeface="Calibr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920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B2B5C0"/>
                </a:solidFill>
                <a:latin typeface="Calibri"/>
              </a:rPr>
              <a:t>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918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1">
                <a:solidFill>
                  <a:srgbClr val="B2B5C0"/>
                </a:solidFill>
                <a:latin typeface="Calibri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42062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B2B5C0"/>
                </a:solidFill>
                <a:latin typeface="Calibri"/>
              </a:rPr>
              <a:t>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B2B5C0"/>
                </a:solidFill>
                <a:latin typeface="Calibri"/>
              </a:rPr>
              <a:t>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B2B5C0"/>
                </a:solidFill>
                <a:latin typeface="Calibri"/>
              </a:rPr>
              <a:t>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1">
                <a:solidFill>
                  <a:srgbClr val="B2B5C0"/>
                </a:solidFill>
                <a:latin typeface="Calibri"/>
              </a:rPr>
              <a:t>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5488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B2B5C0"/>
                </a:solidFill>
                <a:latin typeface="Calibri"/>
              </a:rPr>
              <a:t>Σ</a:t>
            </a:r>
          </a:p>
        </p:txBody>
      </p:sp>
      <p:sp>
        <p:nvSpPr>
          <p:cNvPr id="24" name="Oval 23"/>
          <p:cNvSpPr/>
          <p:nvPr/>
        </p:nvSpPr>
        <p:spPr>
          <a:xfrm>
            <a:off x="11804904" y="6382512"/>
            <a:ext cx="182880" cy="182880"/>
          </a:xfrm>
          <a:prstGeom prst="ellipse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164592"/>
            <a:ext cx="12188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A8E0"/>
                </a:solidFill>
                <a:latin typeface="Calibri"/>
              </a:rPr>
              <a:t>Рефлексия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943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3 – 2 –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417320"/>
            <a:ext cx="3931920" cy="381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1691640"/>
            <a:ext cx="3657600" cy="4572000"/>
          </a:xfrm>
          <a:prstGeom prst="rect">
            <a:avLst/>
          </a:prstGeom>
          <a:solidFill>
            <a:srgbClr val="4C7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858768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04164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Бүгін білгенім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1691640"/>
            <a:ext cx="3657600" cy="4572000"/>
          </a:xfrm>
          <a:prstGeom prst="rect">
            <a:avLst/>
          </a:prstGeom>
          <a:solidFill>
            <a:srgbClr val="22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0832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3858768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07992" y="404164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Мен үшін маңызды болғаны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1691640"/>
            <a:ext cx="3657600" cy="4572000"/>
          </a:xfrm>
          <a:prstGeom prst="rect">
            <a:avLst/>
          </a:prstGeom>
          <a:solidFill>
            <a:srgbClr val="7C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84464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41664" y="3858768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21624" y="404164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Әлі де білгім келетіні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7352" y="6446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827</Words>
  <Application>Microsoft Macintosh PowerPoint</Application>
  <PresentationFormat>Произвольный</PresentationFormat>
  <Paragraphs>334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Маржан Утжанова</cp:lastModifiedBy>
  <cp:revision>2</cp:revision>
  <dcterms:created xsi:type="dcterms:W3CDTF">2013-01-27T09:14:16Z</dcterms:created>
  <dcterms:modified xsi:type="dcterms:W3CDTF">2026-10-07T11:59:21Z</dcterms:modified>
  <cp:category/>
</cp:coreProperties>
</file>