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F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45552" y="0"/>
            <a:ext cx="19050" cy="685800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-182880"/>
            <a:ext cx="420624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142650"/>
                </a:solidFill>
                <a:latin typeface="Calibri"/>
              </a:rPr>
              <a:t>|x|</a:t>
            </a:r>
          </a:p>
        </p:txBody>
      </p:sp>
      <p:sp>
        <p:nvSpPr>
          <p:cNvPr id="7" name="Oval 6"/>
          <p:cNvSpPr/>
          <p:nvPr/>
        </p:nvSpPr>
        <p:spPr>
          <a:xfrm>
            <a:off x="8165592" y="1399032"/>
            <a:ext cx="128016" cy="128016"/>
          </a:xfrm>
          <a:prstGeom prst="ellipse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65592" y="2267712"/>
            <a:ext cx="128016" cy="128016"/>
          </a:xfrm>
          <a:prstGeom prst="ellipse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65592" y="3136392"/>
            <a:ext cx="128016" cy="128016"/>
          </a:xfrm>
          <a:prstGeom prst="ellipse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65592" y="4005072"/>
            <a:ext cx="128016" cy="128016"/>
          </a:xfrm>
          <a:prstGeom prst="ellipse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65592" y="4873752"/>
            <a:ext cx="128016" cy="128016"/>
          </a:xfrm>
          <a:prstGeom prst="ellipse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417320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7AD4"/>
                </a:solidFill>
                <a:latin typeface="Calibri"/>
              </a:rPr>
              <a:t>6-СЫНЫП  ·  МАТЕМАТИКА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011680"/>
            <a:ext cx="3840480" cy="38100"/>
          </a:xfrm>
          <a:prstGeom prst="rect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176272"/>
            <a:ext cx="71323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Санның
модулі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983480"/>
            <a:ext cx="2331720" cy="190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512064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98FF"/>
                </a:solidFill>
                <a:latin typeface="Calibri"/>
              </a:rPr>
              <a:t>6.1.1.9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968496"/>
            <a:ext cx="11731752" cy="1016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1188720"/>
            <a:ext cx="10160" cy="557784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7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7242"/>
            <a:ext cx="12188952" cy="317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3152"/>
            <a:ext cx="1107338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Оқу бағдарламасына сәйкес мақсат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  <a:latin typeface="Calibri"/>
              </a:rPr>
              <a:t>▸ ОҚЫТУ МАҚСАТЫ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508760"/>
            <a:ext cx="2743200" cy="1920240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508760"/>
            <a:ext cx="64008" cy="1920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664208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6.1.1.9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743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Оқыту мақсаты коды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508760"/>
            <a:ext cx="8275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508760"/>
            <a:ext cx="8275320" cy="502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166420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Санның модулі анықтамасын білу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2267712"/>
            <a:ext cx="4114800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2395728"/>
            <a:ext cx="7955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  <a:latin typeface="Calibri"/>
              </a:rPr>
              <a:t>және оның мәнін координаталық түзуде табу.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968496"/>
            <a:ext cx="11731752" cy="1016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1188720"/>
            <a:ext cx="10160" cy="557784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7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7242"/>
            <a:ext cx="12188952" cy="317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3152"/>
            <a:ext cx="1107338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Сабақтың мақсаты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  <a:latin typeface="Calibri"/>
              </a:rPr>
              <a:t>▸ ОҚУШЫЛАР САБАҚ СОҢЫНДА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536192"/>
            <a:ext cx="11237976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536192"/>
            <a:ext cx="11237976" cy="502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1883664"/>
            <a:ext cx="402336" cy="40233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01952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810512"/>
            <a:ext cx="104150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50" b="0" i="0">
                <a:solidFill>
                  <a:srgbClr val="0F172A"/>
                </a:solidFill>
                <a:latin typeface="Calibri"/>
              </a:rPr>
              <a:t>санның модулі ұғымын біледі және анықтамасын түсіндіреді;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2770632"/>
            <a:ext cx="11237976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2770632"/>
            <a:ext cx="11237976" cy="502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" y="3118104"/>
            <a:ext cx="402336" cy="40233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36392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044952"/>
            <a:ext cx="104150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50" b="0" i="0">
                <a:solidFill>
                  <a:srgbClr val="0F172A"/>
                </a:solidFill>
                <a:latin typeface="Calibri"/>
              </a:rPr>
              <a:t>санның модулін координаталық түзуде анықтайды;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4005072"/>
            <a:ext cx="11237976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4005072"/>
            <a:ext cx="11237976" cy="502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" y="4352544"/>
            <a:ext cx="402336" cy="40233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70832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279392"/>
            <a:ext cx="104150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50" b="0" i="0">
                <a:solidFill>
                  <a:srgbClr val="0F172A"/>
                </a:solidFill>
                <a:latin typeface="Calibri"/>
              </a:rPr>
              <a:t>оң және теріс сандардың, сондай-ақ нөлдің модулін табады;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5239512"/>
            <a:ext cx="11237976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" y="5239512"/>
            <a:ext cx="11237976" cy="502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8640" y="5586984"/>
            <a:ext cx="402336" cy="40233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605272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513832"/>
            <a:ext cx="104150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50" b="0" i="0">
                <a:solidFill>
                  <a:srgbClr val="0F172A"/>
                </a:solidFill>
                <a:latin typeface="Calibri"/>
              </a:rPr>
              <a:t>санның модулін табуға берілген есептерді шығарады.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968496"/>
            <a:ext cx="11731752" cy="1016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1188720"/>
            <a:ext cx="10160" cy="557784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7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7242"/>
            <a:ext cx="12188952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3152"/>
            <a:ext cx="1107338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«Миға шабуыл» әдісі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749808"/>
            <a:ext cx="11073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94A3B8"/>
                </a:solidFill>
                <a:latin typeface="Calibri"/>
              </a:rPr>
              <a:t>Өткен тақырыпты қайталау — интерактивті викторина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▸ ЖЫЛЫТУ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536192"/>
            <a:ext cx="1123797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536192"/>
            <a:ext cx="11237976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691640"/>
            <a:ext cx="11237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Wordwall — интерактивті викторина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377440"/>
            <a:ext cx="112379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wordwall.net/kk/resource/57219143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" y="3127248"/>
            <a:ext cx="5029200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273552"/>
            <a:ext cx="11237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75569"/>
                </a:solidFill>
                <a:latin typeface="Calibri"/>
              </a:rPr>
              <a:t>Браузер арқылы ашыңыз  ·  ?wwmethod=link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5120640"/>
            <a:ext cx="11237976" cy="530352"/>
          </a:xfrm>
          <a:prstGeom prst="rect">
            <a:avLst/>
          </a:prstGeom>
          <a:solidFill>
            <a:srgbClr val="EBF5E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" y="5120640"/>
            <a:ext cx="54864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212080"/>
            <a:ext cx="10963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59669"/>
                </a:solidFill>
                <a:latin typeface="Calibri"/>
              </a:rPr>
              <a:t>✓  Дескриптор: Дұрыс жауап — 1 ұпай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968496"/>
            <a:ext cx="11731752" cy="1016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1188720"/>
            <a:ext cx="10160" cy="557784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7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7242"/>
            <a:ext cx="12188952" cy="317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3152"/>
            <a:ext cx="1107338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Санның модулі — анықтама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  <a:latin typeface="Calibri"/>
              </a:rPr>
              <a:t>▸ ЖАҢА ТАҚЫРЫП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481328"/>
            <a:ext cx="11237976" cy="1572768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481328"/>
            <a:ext cx="64008" cy="1572768"/>
          </a:xfrm>
          <a:prstGeom prst="rect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627632"/>
            <a:ext cx="11237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|a| — санның модулі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240280"/>
            <a:ext cx="10872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  <a:latin typeface="Calibri"/>
              </a:rPr>
              <a:t>a санының координаталық түзудегі санақ басынан қашықтығы.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4447032"/>
            <a:ext cx="10563352" cy="317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976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01984" y="429768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350" y="4384548"/>
            <a:ext cx="38100" cy="1554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Calibri"/>
              </a:rPr>
              <a:t>-6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58696" y="4384548"/>
            <a:ext cx="38100" cy="1554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8290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Calibri"/>
              </a:rPr>
              <a:t>-5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22042" y="4384548"/>
            <a:ext cx="38100" cy="1554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1636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Calibri"/>
              </a:rPr>
              <a:t>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85388" y="4384548"/>
            <a:ext cx="38100" cy="1554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84982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Calibri"/>
              </a:rPr>
              <a:t>-3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8734" y="4384548"/>
            <a:ext cx="38100" cy="1554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8328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Calibri"/>
              </a:rPr>
              <a:t>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4384548"/>
            <a:ext cx="38100" cy="1554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1674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Calibri"/>
              </a:rPr>
              <a:t>-1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75426" y="4361688"/>
            <a:ext cx="38100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75020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38772" y="4384548"/>
            <a:ext cx="38100" cy="1554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38366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2118" y="4384548"/>
            <a:ext cx="38100" cy="1554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01712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65464" y="4384548"/>
            <a:ext cx="38100" cy="1554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5058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28810" y="4384548"/>
            <a:ext cx="38100" cy="1554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8404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92156" y="4384548"/>
            <a:ext cx="38100" cy="1554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1750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55502" y="4384548"/>
            <a:ext cx="38100" cy="1554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55096" y="456285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41092" y="3975608"/>
            <a:ext cx="3453384" cy="444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41092" y="3950208"/>
            <a:ext cx="44450" cy="1188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94476" y="3950208"/>
            <a:ext cx="44450" cy="1188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41092" y="3675888"/>
            <a:ext cx="3453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C2626"/>
                </a:solidFill>
                <a:latin typeface="Calibri"/>
              </a:rPr>
              <a:t>|−4| = 4 бірлік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4476" y="3975608"/>
            <a:ext cx="3453384" cy="444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94476" y="3950208"/>
            <a:ext cx="44450" cy="1188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7860" y="3950208"/>
            <a:ext cx="44450" cy="1188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4476" y="3675888"/>
            <a:ext cx="3453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59669"/>
                </a:solidFill>
                <a:latin typeface="Calibri"/>
              </a:rPr>
              <a:t>|4| = 4 бірлік</a:t>
            </a:r>
          </a:p>
        </p:txBody>
      </p:sp>
      <p:sp>
        <p:nvSpPr>
          <p:cNvPr id="52" name="Oval 51"/>
          <p:cNvSpPr/>
          <p:nvPr/>
        </p:nvSpPr>
        <p:spPr>
          <a:xfrm>
            <a:off x="2503932" y="4325112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410700" y="4325112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968496"/>
            <a:ext cx="11731752" cy="1016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1188720"/>
            <a:ext cx="10160" cy="557784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7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7242"/>
            <a:ext cx="12188952" cy="317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3152"/>
            <a:ext cx="1107338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Санның модулі — ережелер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  <a:latin typeface="Calibri"/>
              </a:rPr>
              <a:t>▸ ҚАСИЕТТЕР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508760"/>
            <a:ext cx="365455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508760"/>
            <a:ext cx="3654552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64208"/>
            <a:ext cx="338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01  Оң сан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76272"/>
            <a:ext cx="1280160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3380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0F172A"/>
                </a:solidFill>
                <a:latin typeface="Calibri"/>
              </a:rPr>
              <a:t>Оң санның модулі сол санның өзіне тең.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3822191"/>
            <a:ext cx="3380232" cy="658368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3822191"/>
            <a:ext cx="64008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13632"/>
            <a:ext cx="310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|5| =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4590288"/>
            <a:ext cx="3380232" cy="658368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" y="4590288"/>
            <a:ext cx="64008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81728"/>
            <a:ext cx="310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|12| = 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200" y="1508760"/>
            <a:ext cx="365455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200" y="1508760"/>
            <a:ext cx="3654552" cy="502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0080" y="1664208"/>
            <a:ext cx="338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02  Теріс сан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50080" y="2176272"/>
            <a:ext cx="1280160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0080" y="2304288"/>
            <a:ext cx="3380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0F172A"/>
                </a:solidFill>
                <a:latin typeface="Calibri"/>
              </a:rPr>
              <a:t>Теріс санның модулі оған қарама-қарсы санға тең.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4360" y="3822191"/>
            <a:ext cx="3380232" cy="658368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04360" y="3822191"/>
            <a:ext cx="64008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4672" y="3913632"/>
            <a:ext cx="310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|−5| =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4360" y="4590288"/>
            <a:ext cx="3380232" cy="658368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4360" y="4590288"/>
            <a:ext cx="64008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4672" y="4681728"/>
            <a:ext cx="310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|−12| =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58912" y="1508760"/>
            <a:ext cx="365455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58912" y="1508760"/>
            <a:ext cx="3654552" cy="502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1792" y="1664208"/>
            <a:ext cx="338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  <a:latin typeface="Calibri"/>
              </a:rPr>
              <a:t>03  Нөл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1792" y="2176272"/>
            <a:ext cx="1280160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1792" y="2304288"/>
            <a:ext cx="33802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0F172A"/>
                </a:solidFill>
                <a:latin typeface="Calibri"/>
              </a:rPr>
              <a:t>Нөлдің модулі нөлге тең.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96072" y="3822191"/>
            <a:ext cx="3380232" cy="658368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96072" y="3822191"/>
            <a:ext cx="64008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6384" y="3913632"/>
            <a:ext cx="310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|0| =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6236208"/>
            <a:ext cx="11237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* Нөлден өзге кез келген санның модулі — оң сан.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968496"/>
            <a:ext cx="11731752" cy="1016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1188720"/>
            <a:ext cx="10160" cy="557784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7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1078992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7242"/>
            <a:ext cx="12188952" cy="3175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3152"/>
            <a:ext cx="1107338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Санның модулін табу формуласы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22ED1"/>
                </a:solidFill>
                <a:latin typeface="Calibri"/>
              </a:rPr>
              <a:t>▸ АНЫҚТАМА (ФОРМУЛА)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481328"/>
            <a:ext cx="6583680" cy="3017520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481328"/>
            <a:ext cx="64008" cy="301752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66420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|a| 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1719072"/>
            <a:ext cx="4389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a,     егер  a ≥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2450592"/>
            <a:ext cx="4389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−a,   егер  a &lt;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8256" y="1536192"/>
            <a:ext cx="457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069ABF"/>
                </a:solidFill>
                <a:latin typeface="Calibri"/>
              </a:rPr>
              <a:t>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31012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Нөлден өзге санның модулі — оң сан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840480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Қарама-қарсы сандардың модульдері тең: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481328"/>
            <a:ext cx="4297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481328"/>
            <a:ext cx="4297680" cy="50292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162763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22ED1"/>
                </a:solidFill>
                <a:latin typeface="Calibri"/>
              </a:rPr>
              <a:t>Мысал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057400"/>
            <a:ext cx="2286000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29520" y="2134560"/>
            <a:ext cx="4143360" cy="714360"/>
          </a:xfrm>
          <a:prstGeom prst="rect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19456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C2626"/>
                </a:solidFill>
                <a:latin typeface="Calibri"/>
              </a:rPr>
              <a:t>|−8| =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29520" y="2792928"/>
            <a:ext cx="4143360" cy="714360"/>
          </a:xfrm>
          <a:prstGeom prst="rect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285292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|8| = 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29520" y="3451296"/>
            <a:ext cx="4143360" cy="714360"/>
          </a:xfrm>
          <a:prstGeom prst="rect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3511296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D4ED8"/>
                </a:solidFill>
                <a:latin typeface="Calibri"/>
              </a:rPr>
              <a:t>|0| = 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4754880"/>
            <a:ext cx="112379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" y="4754880"/>
            <a:ext cx="11237976" cy="50292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901184"/>
            <a:ext cx="108722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F172A"/>
                </a:solidFill>
                <a:latin typeface="Calibri"/>
              </a:rPr>
              <a:t>|−a| = |a|  →  Қарама-қарсы сандардың модульдері тең, бірақ таңбалары әртүрлі.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968496"/>
            <a:ext cx="11731752" cy="1016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1188720"/>
            <a:ext cx="10160" cy="557784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7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1078992"/>
          </a:xfrm>
          <a:prstGeom prst="rect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7242"/>
            <a:ext cx="12188952" cy="31750"/>
          </a:xfrm>
          <a:prstGeom prst="rect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3152"/>
            <a:ext cx="1107338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«Дұрысын тап» — мысалдар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749808"/>
            <a:ext cx="11073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94A3B8"/>
                </a:solidFill>
                <a:latin typeface="Calibri"/>
              </a:rPr>
              <a:t>Модульді дұрыс анықтаңыз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9ABF"/>
                </a:solidFill>
                <a:latin typeface="Calibri"/>
              </a:rPr>
              <a:t>▸ ПРАКТИКА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508760"/>
            <a:ext cx="215981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508760"/>
            <a:ext cx="2159812" cy="502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828800"/>
            <a:ext cx="21598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F172A"/>
                </a:solidFill>
                <a:latin typeface="Calibri"/>
              </a:rPr>
              <a:t>|−7|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926080"/>
            <a:ext cx="1611172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" y="3108960"/>
            <a:ext cx="1940356" cy="914400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" y="3108960"/>
            <a:ext cx="64008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3218688"/>
            <a:ext cx="19403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= 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5028" y="1508760"/>
            <a:ext cx="215981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5028" y="1508760"/>
            <a:ext cx="2159812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5028" y="1828800"/>
            <a:ext cx="21598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F172A"/>
                </a:solidFill>
                <a:latin typeface="Calibri"/>
              </a:rPr>
              <a:t>|12|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9348" y="2926080"/>
            <a:ext cx="1611172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54756" y="3108960"/>
            <a:ext cx="1940356" cy="914400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54756" y="3108960"/>
            <a:ext cx="64008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4756" y="3218688"/>
            <a:ext cx="19403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= 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4569" y="1508760"/>
            <a:ext cx="215981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14569" y="1508760"/>
            <a:ext cx="2159812" cy="502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4569" y="1828800"/>
            <a:ext cx="21598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F172A"/>
                </a:solidFill>
                <a:latin typeface="Calibri"/>
              </a:rPr>
              <a:t>|−15|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88889" y="2926080"/>
            <a:ext cx="1611172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24297" y="3108960"/>
            <a:ext cx="1940356" cy="914400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4297" y="3108960"/>
            <a:ext cx="64008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4297" y="3218688"/>
            <a:ext cx="19403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= 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84110" y="1508760"/>
            <a:ext cx="215981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84110" y="1508760"/>
            <a:ext cx="2159812" cy="502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84110" y="1828800"/>
            <a:ext cx="21598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F172A"/>
                </a:solidFill>
                <a:latin typeface="Calibri"/>
              </a:rPr>
              <a:t>|0|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58430" y="2926080"/>
            <a:ext cx="1611172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93838" y="3108960"/>
            <a:ext cx="1940356" cy="914400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93838" y="3108960"/>
            <a:ext cx="64008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93838" y="3218688"/>
            <a:ext cx="19403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= 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3651" y="1508760"/>
            <a:ext cx="215981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53651" y="1508760"/>
            <a:ext cx="2159812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3651" y="1828800"/>
            <a:ext cx="21598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F172A"/>
                </a:solidFill>
                <a:latin typeface="Calibri"/>
              </a:rPr>
              <a:t>|8|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27971" y="2926080"/>
            <a:ext cx="1611172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63379" y="3108960"/>
            <a:ext cx="1940356" cy="914400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63379" y="3108960"/>
            <a:ext cx="64008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63379" y="3218688"/>
            <a:ext cx="19403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= 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" y="5577840"/>
            <a:ext cx="11237976" cy="530352"/>
          </a:xfrm>
          <a:prstGeom prst="rect">
            <a:avLst/>
          </a:prstGeom>
          <a:solidFill>
            <a:srgbClr val="EBF5E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5488" y="5577840"/>
            <a:ext cx="54864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669280"/>
            <a:ext cx="10963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59669"/>
                </a:solidFill>
                <a:latin typeface="Calibri"/>
              </a:rPr>
              <a:t>✓  Дескриптор: Модульдің анықтамасын дұрыс қолданады — 1 балл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allAtOnce"/>
      <p:bldP spid="17" grpId="0" uiExpand="1" build="allAtOnce"/>
      <p:bldP spid="18" grpId="0" uiExpand="1" build="allAtOnce"/>
      <p:bldP spid="23" grpId="1" uiExpand="1" build="allAtOnce"/>
      <p:bldP spid="24" grpId="1" uiExpand="1" build="allAtOnce"/>
      <p:bldP spid="25" grpId="1" uiExpand="1" build="allAtOnce"/>
      <p:bldP spid="30" grpId="2" uiExpand="1" build="allAtOnce"/>
      <p:bldP spid="31" grpId="2" uiExpand="1" build="allAtOnce"/>
      <p:bldP spid="32" grpId="2" uiExpand="1" build="allAtOnce"/>
      <p:bldP spid="37" grpId="3" uiExpand="1" build="allAtOnce"/>
      <p:bldP spid="38" grpId="3" uiExpand="1" build="allAtOnce"/>
      <p:bldP spid="39" grpId="3" uiExpand="1" build="allAtOnce"/>
      <p:bldP spid="44" grpId="4" uiExpand="1" build="allAtOnce"/>
      <p:bldP spid="45" grpId="4" uiExpand="1" build="allAtOnce"/>
      <p:bldP spid="46" grpId="4" uiExpand="1" build="allAtOnce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968496"/>
            <a:ext cx="11731752" cy="1016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1188720"/>
            <a:ext cx="10160" cy="557784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7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1078992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7242"/>
            <a:ext cx="12188952" cy="3175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3152"/>
            <a:ext cx="1107338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Жұптық жұмыс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22ED1"/>
                </a:solidFill>
                <a:latin typeface="Calibri"/>
              </a:rPr>
              <a:t>▸ ЖҰПТЫҚ ЖҰМЫС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536192"/>
            <a:ext cx="11237976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536192"/>
            <a:ext cx="11237976" cy="50292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1783080"/>
            <a:ext cx="512064" cy="512064"/>
          </a:xfrm>
          <a:prstGeom prst="ellipse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56232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1883664"/>
            <a:ext cx="10232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F172A"/>
                </a:solidFill>
                <a:latin typeface="Calibri"/>
              </a:rPr>
              <a:t>|−9|,  |6|,  |−14|,  |0|  мәндерін табыңдар.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712464"/>
            <a:ext cx="11237976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3712464"/>
            <a:ext cx="11237976" cy="50292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928" y="3959352"/>
            <a:ext cx="512064" cy="512064"/>
          </a:xfrm>
          <a:prstGeom prst="ellipse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032504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4059936"/>
            <a:ext cx="102321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F172A"/>
                </a:solidFill>
                <a:latin typeface="Calibri"/>
              </a:rPr>
              <a:t>Координаталық түзуде −4 және 4 сандарын белгілеп,
олардың модульдерін салыстырыңдар.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5897880"/>
            <a:ext cx="11237976" cy="530352"/>
          </a:xfrm>
          <a:prstGeom prst="rect">
            <a:avLst/>
          </a:prstGeom>
          <a:solidFill>
            <a:srgbClr val="EBF5E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5897880"/>
            <a:ext cx="54864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989320"/>
            <a:ext cx="10963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59669"/>
                </a:solidFill>
                <a:latin typeface="Calibri"/>
              </a:rPr>
              <a:t>✓  Дескриптор: Модульдің анықтамасын дұрыс қолданады — 2 балл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968496"/>
            <a:ext cx="11731752" cy="1016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1188720"/>
            <a:ext cx="10160" cy="557784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7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1078992"/>
          </a:xfrm>
          <a:prstGeom prst="rect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7242"/>
            <a:ext cx="12188952" cy="31750"/>
          </a:xfrm>
          <a:prstGeom prst="rect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3152"/>
            <a:ext cx="1107338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Топтық жұмыс «Модуль әлемі»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9ABF"/>
                </a:solidFill>
                <a:latin typeface="Calibri"/>
              </a:rPr>
              <a:t>▸ ТОПТЫҚ ЖҰМЫС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508760"/>
            <a:ext cx="3654552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508760"/>
            <a:ext cx="3654552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64208"/>
            <a:ext cx="338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1-топ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94560"/>
            <a:ext cx="1371600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33802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0F172A"/>
                </a:solidFill>
                <a:latin typeface="Calibri"/>
              </a:rPr>
              <a:t>Оң сандардың модулін анықтау.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3749039"/>
            <a:ext cx="3380232" cy="566928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3749039"/>
            <a:ext cx="64008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840480"/>
            <a:ext cx="3060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Мысалдар келтіріңдер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200" y="1508760"/>
            <a:ext cx="3654552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7200" y="1508760"/>
            <a:ext cx="3654552" cy="502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1664208"/>
            <a:ext cx="338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2-топ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0080" y="2194560"/>
            <a:ext cx="1371600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0080" y="2340864"/>
            <a:ext cx="33802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0F172A"/>
                </a:solidFill>
                <a:latin typeface="Calibri"/>
              </a:rPr>
              <a:t>Теріс сандардың модулін анықтау.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4360" y="3749039"/>
            <a:ext cx="3380232" cy="566928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4360" y="3749039"/>
            <a:ext cx="64008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7240" y="3840480"/>
            <a:ext cx="3060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Мысалдар келтіріңдер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8912" y="1508760"/>
            <a:ext cx="3654552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8912" y="1508760"/>
            <a:ext cx="3654552" cy="50292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1792" y="1664208"/>
            <a:ext cx="338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22ED1"/>
                </a:solidFill>
                <a:latin typeface="Calibri"/>
              </a:rPr>
              <a:t>3-топ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1792" y="2194560"/>
            <a:ext cx="1371600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1792" y="2340864"/>
            <a:ext cx="33802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0F172A"/>
                </a:solidFill>
                <a:latin typeface="Calibri"/>
              </a:rPr>
              <a:t>Модулі бірдей сандарды табу.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96072" y="3749039"/>
            <a:ext cx="3380232" cy="566928"/>
          </a:xfrm>
          <a:prstGeom prst="rect">
            <a:avLst/>
          </a:prstGeom>
          <a:solidFill>
            <a:srgbClr val="0B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96072" y="3749039"/>
            <a:ext cx="64008" cy="566928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8952" y="3840480"/>
            <a:ext cx="3060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Мысалдар келтіріңдер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" y="5577840"/>
            <a:ext cx="11237976" cy="530352"/>
          </a:xfrm>
          <a:prstGeom prst="rect">
            <a:avLst/>
          </a:prstGeom>
          <a:solidFill>
            <a:srgbClr val="EBF5E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" y="5577840"/>
            <a:ext cx="54864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669280"/>
            <a:ext cx="10963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59669"/>
                </a:solidFill>
                <a:latin typeface="Calibri"/>
              </a:rPr>
              <a:t>✓  Дескриптор: Модульдің анықтамасын дұрыс қолдану арқылы мысалдар келтіреді — 2 балл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968496"/>
            <a:ext cx="11731752" cy="1016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1188720"/>
            <a:ext cx="10160" cy="557784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7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7242"/>
            <a:ext cx="12188952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3152"/>
            <a:ext cx="1107338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«Ойлан – тап» әдісі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749808"/>
            <a:ext cx="11073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94A3B8"/>
                </a:solidFill>
                <a:latin typeface="Calibri"/>
              </a:rPr>
              <a:t>ЕҮОБ немесе ЕКОЕ? Модульді анықтаңыз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▸ ОЙЛАН – ТАП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508760"/>
            <a:ext cx="272719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508760"/>
            <a:ext cx="272719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084831"/>
            <a:ext cx="27271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172A"/>
                </a:solidFill>
                <a:latin typeface="Calibri"/>
              </a:rPr>
              <a:t>|−18| =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182112"/>
            <a:ext cx="2361438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91840"/>
            <a:ext cx="236143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Calibri"/>
              </a:rPr>
              <a:t>= 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2414" y="1508760"/>
            <a:ext cx="272719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2414" y="1508760"/>
            <a:ext cx="272719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2414" y="2084831"/>
            <a:ext cx="27271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172A"/>
                </a:solidFill>
                <a:latin typeface="Calibri"/>
              </a:rPr>
              <a:t>|25| = 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5294" y="3182112"/>
            <a:ext cx="2361438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5294" y="3291840"/>
            <a:ext cx="236143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Calibri"/>
              </a:rPr>
              <a:t>= 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0" y="1508760"/>
            <a:ext cx="272719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9340" y="1508760"/>
            <a:ext cx="272719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9340" y="2084831"/>
            <a:ext cx="27271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172A"/>
                </a:solidFill>
                <a:latin typeface="Calibri"/>
              </a:rPr>
              <a:t>|−32| = 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2220" y="3182112"/>
            <a:ext cx="2361438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3291840"/>
            <a:ext cx="236143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Calibri"/>
              </a:rPr>
              <a:t>= 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86266" y="1508760"/>
            <a:ext cx="272719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86266" y="1508760"/>
            <a:ext cx="272719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86266" y="2084831"/>
            <a:ext cx="27271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172A"/>
                </a:solidFill>
                <a:latin typeface="Calibri"/>
              </a:rPr>
              <a:t>|0| = 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69146" y="3182112"/>
            <a:ext cx="2361438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9146" y="3291840"/>
            <a:ext cx="236143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  <a:latin typeface="Calibri"/>
              </a:rPr>
              <a:t>= ___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5440680"/>
            <a:ext cx="11237976" cy="530352"/>
          </a:xfrm>
          <a:prstGeom prst="rect">
            <a:avLst/>
          </a:prstGeom>
          <a:solidFill>
            <a:srgbClr val="EBF5E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5488" y="5440680"/>
            <a:ext cx="54864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532120"/>
            <a:ext cx="10963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59669"/>
                </a:solidFill>
                <a:latin typeface="Calibri"/>
              </a:rPr>
              <a:t>✓  Дескриптор: Модульдің анықтамасын дұрыс қолданады — 2 балл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allAtOnce"/>
      <p:bldP spid="21" grpId="1" uiExpand="1" build="allAtOnce"/>
      <p:bldP spid="26" grpId="2" uiExpand="1" build="allAtOnce"/>
      <p:bldP spid="31" grpId="3" uiExpand="1" build="allAtOnce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968496"/>
            <a:ext cx="11731752" cy="1016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1188720"/>
            <a:ext cx="10160" cy="557784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7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10789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47242"/>
            <a:ext cx="12188952" cy="317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3152"/>
            <a:ext cx="1107338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Жеке жұмыс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749808"/>
            <a:ext cx="11073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94A3B8"/>
                </a:solidFill>
                <a:latin typeface="Calibri"/>
              </a:rPr>
              <a:t>Бағалау тапсырмасы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152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Calibri"/>
              </a:rPr>
              <a:t>▸ ЖЕКЕ ЖҰМЫС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508760"/>
            <a:ext cx="1123797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508760"/>
            <a:ext cx="11237976" cy="502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19072"/>
            <a:ext cx="112379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Тапсырманы өз бетіңізше орындаңыз.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2450592"/>
            <a:ext cx="4114800" cy="19050"/>
          </a:xfrm>
          <a:prstGeom prst="rect">
            <a:avLst/>
          </a:prstGeom>
          <a:solidFill>
            <a:srgbClr val="D1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578608"/>
            <a:ext cx="112379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75569"/>
                </a:solidFill>
                <a:latin typeface="Calibri"/>
              </a:rPr>
              <a:t>Мұғалім тапсырма карточкаларын таратады.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218688"/>
            <a:ext cx="112379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⏱  5 минут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4590288"/>
            <a:ext cx="11237976" cy="530352"/>
          </a:xfrm>
          <a:prstGeom prst="rect">
            <a:avLst/>
          </a:prstGeom>
          <a:solidFill>
            <a:srgbClr val="EBF5E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" y="4590288"/>
            <a:ext cx="54864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681728"/>
            <a:ext cx="10963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59669"/>
                </a:solidFill>
                <a:latin typeface="Calibri"/>
              </a:rPr>
              <a:t>✓  Дескриптор: ЕҮОБ және ЕКОЕ-ні дұрыс есептейді — 1 балл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5285232"/>
            <a:ext cx="11237976" cy="530352"/>
          </a:xfrm>
          <a:prstGeom prst="rect">
            <a:avLst/>
          </a:prstGeom>
          <a:solidFill>
            <a:srgbClr val="EBF5E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5285232"/>
            <a:ext cx="54864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376672"/>
            <a:ext cx="10963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59669"/>
                </a:solidFill>
                <a:latin typeface="Calibri"/>
              </a:rPr>
              <a:t>✓  Дескриптор: Мәтінді есепті дұрыс шығарып жауабын жазады — 1 балл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60167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Жалпы: 2 балл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Сабақты қорытындылау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685800"/>
            <a:ext cx="4114800" cy="25400"/>
          </a:xfrm>
          <a:prstGeom prst="rect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960120"/>
            <a:ext cx="6217920" cy="1005840"/>
          </a:xfrm>
          <a:prstGeom prst="rect">
            <a:avLst/>
          </a:prstGeom>
          <a:solidFill>
            <a:srgbClr val="111E42"/>
          </a:solidFill>
          <a:ln w="12700">
            <a:solidFill>
              <a:srgbClr val="223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960120"/>
            <a:ext cx="54864" cy="1005840"/>
          </a:xfrm>
          <a:prstGeom prst="rect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6128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«Санның модулі дегеніміз — ...»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130552"/>
            <a:ext cx="6217920" cy="1005840"/>
          </a:xfrm>
          <a:prstGeom prst="rect">
            <a:avLst/>
          </a:prstGeom>
          <a:solidFill>
            <a:srgbClr val="111E42"/>
          </a:solidFill>
          <a:ln w="12700">
            <a:solidFill>
              <a:srgbClr val="223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130552"/>
            <a:ext cx="54864" cy="1005840"/>
          </a:xfrm>
          <a:prstGeom prst="rect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33172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«Теріс санның модулі ...»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3300984"/>
            <a:ext cx="6217920" cy="1005840"/>
          </a:xfrm>
          <a:prstGeom prst="rect">
            <a:avLst/>
          </a:prstGeom>
          <a:solidFill>
            <a:srgbClr val="111E42"/>
          </a:solidFill>
          <a:ln w="12700">
            <a:solidFill>
              <a:srgbClr val="223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3300984"/>
            <a:ext cx="54864" cy="1005840"/>
          </a:xfrm>
          <a:prstGeom prst="rect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0215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«Нөлдің модулі ...»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960120"/>
            <a:ext cx="1792224" cy="3474720"/>
          </a:xfrm>
          <a:prstGeom prst="rect">
            <a:avLst/>
          </a:prstGeom>
          <a:solidFill>
            <a:srgbClr val="0D1A38"/>
          </a:solidFill>
          <a:ln w="12700">
            <a:solidFill>
              <a:srgbClr val="1A2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960120"/>
            <a:ext cx="1792224" cy="502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097280"/>
            <a:ext cx="17922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1D4ED8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633472"/>
            <a:ext cx="1243584" cy="127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788920"/>
            <a:ext cx="16093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бүгін білгенім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85632" y="960120"/>
            <a:ext cx="1792224" cy="3474720"/>
          </a:xfrm>
          <a:prstGeom prst="rect">
            <a:avLst/>
          </a:prstGeom>
          <a:solidFill>
            <a:srgbClr val="0D1A38"/>
          </a:solidFill>
          <a:ln w="12700">
            <a:solidFill>
              <a:srgbClr val="1A2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85632" y="960120"/>
            <a:ext cx="1792224" cy="50292"/>
          </a:xfrm>
          <a:prstGeom prst="rect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1097280"/>
            <a:ext cx="17922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069ABF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59952" y="2633472"/>
            <a:ext cx="1243584" cy="12700"/>
          </a:xfrm>
          <a:prstGeom prst="rect">
            <a:avLst/>
          </a:prstGeom>
          <a:solidFill>
            <a:srgbClr val="069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2788920"/>
            <a:ext cx="16093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маңызды болғаны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87584" y="960120"/>
            <a:ext cx="1792224" cy="3474720"/>
          </a:xfrm>
          <a:prstGeom prst="rect">
            <a:avLst/>
          </a:prstGeom>
          <a:solidFill>
            <a:srgbClr val="0D1A38"/>
          </a:solidFill>
          <a:ln w="12700">
            <a:solidFill>
              <a:srgbClr val="1A2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87584" y="960120"/>
            <a:ext cx="1792224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87584" y="1097280"/>
            <a:ext cx="17922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59E0B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1904" y="2633472"/>
            <a:ext cx="1243584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79024" y="2788920"/>
            <a:ext cx="16093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білгім келетіні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" y="4590288"/>
            <a:ext cx="11237976" cy="73152"/>
          </a:xfrm>
          <a:prstGeom prst="rect">
            <a:avLst/>
          </a:prstGeom>
          <a:solidFill>
            <a:srgbClr val="22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" y="4709160"/>
            <a:ext cx="11237976" cy="1417320"/>
          </a:xfrm>
          <a:prstGeom prst="rect">
            <a:avLst/>
          </a:prstGeom>
          <a:solidFill>
            <a:srgbClr val="0C1C3C"/>
          </a:solidFill>
          <a:ln w="1270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5488" y="4709160"/>
            <a:ext cx="54864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8280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ҮЙ ТАПСЫРМАСЫ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17352" y="647395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